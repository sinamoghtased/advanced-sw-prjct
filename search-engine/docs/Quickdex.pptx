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Economica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bold.fntdata"/><Relationship Id="rId20" Type="http://schemas.openxmlformats.org/officeDocument/2006/relationships/slide" Target="slides/slide15.xml"/><Relationship Id="rId42" Type="http://schemas.openxmlformats.org/officeDocument/2006/relationships/font" Target="fonts/Economica-boldItalic.fntdata"/><Relationship Id="rId41" Type="http://schemas.openxmlformats.org/officeDocument/2006/relationships/font" Target="fonts/Economica-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bold.fntdata"/><Relationship Id="rId21" Type="http://schemas.openxmlformats.org/officeDocument/2006/relationships/slide" Target="slides/slide16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9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8.xml"/><Relationship Id="rId45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Economica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455a0c2c50cdc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455a0c2c50cdc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455a0c2c50cdc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455a0c2c50cdc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455a0c2c50cdc8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455a0c2c50cdc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455a0c2c50cdc8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455a0c2c50cdc8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455a0c2c50cdc8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455a0c2c50cdc8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455a0c2c50cdc8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455a0c2c50cdc8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455a0c2c50cdc8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455a0c2c50cdc8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455a0c2c50cdc8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455a0c2c50cdc8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455a0c2c50cdc8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455a0c2c50cdc8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455a0c2c50cdc8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455a0c2c50cdc8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455a0c2c50cdc8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455a0c2c50cdc8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455a0c2c50cdc8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455a0c2c50cdc8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455a0c2c50cdc8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h455a0c2c50cdc8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455a0c2c50cdc8_1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455a0c2c50cdc8_1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455a0c2c50cdc8_1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455a0c2c50cdc8_1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455a0c2c50cdc8_1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h455a0c2c50cdc8_1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455a0c2c50cdc8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455a0c2c50cdc8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455a0c2c50cdc8_1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455a0c2c50cdc8_1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455a0c2c50cdc8_1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455a0c2c50cdc8_1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455a0c2c50cdc8_1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h455a0c2c50cdc8_1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455a0c2c50cdc8_1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h455a0c2c50cdc8_1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455a0c2c50cdc8_1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h455a0c2c50cdc8_1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455a0c2c50cdc8_1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455a0c2c50cdc8_1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455a0c2c50cdc8_1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h455a0c2c50cdc8_1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455a0c2c50cdc8_1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h455a0c2c50cdc8_1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455a0c2c50cdc8_1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h455a0c2c50cdc8_1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h455a0c2c50cdc8_1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h455a0c2c50cdc8_1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455a0c2c50cdc8_1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h455a0c2c50cdc8_1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455a0c2c50cdc8_1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h455a0c2c50cdc8_1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h455a0c2c50cdc8_1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h455a0c2c50cdc8_1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455a0c2c50cdc8_1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h455a0c2c50cdc8_1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f3a7cb7f01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f3a7cb7f01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780138b59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780138b59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Quickdex Architectural Design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Preferred Architectural Style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Abstract Data Type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Preferred Architectural Style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Abstract Data Type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16" title="Screenshot 2026-09-25 at 2.59.40 PM.png"/>
          <p:cNvPicPr preferRelativeResize="0"/>
          <p:nvPr/>
        </p:nvPicPr>
        <p:blipFill rotWithShape="1">
          <a:blip r:embed="rId3">
            <a:alphaModFix/>
          </a:blip>
          <a:srcRect b="0" l="0" r="498" t="0"/>
          <a:stretch/>
        </p:blipFill>
        <p:spPr>
          <a:xfrm>
            <a:off x="709813" y="644050"/>
            <a:ext cx="7724375" cy="27219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7814875" y="706325"/>
            <a:ext cx="5487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[1]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8" name="Google Shape;88;p17" title="Screenshot 2026-09-25 at 2.59.40 PM.png"/>
          <p:cNvPicPr preferRelativeResize="0"/>
          <p:nvPr/>
        </p:nvPicPr>
        <p:blipFill rotWithShape="1">
          <a:blip r:embed="rId3">
            <a:alphaModFix/>
          </a:blip>
          <a:srcRect b="0" l="0" r="498" t="0"/>
          <a:stretch/>
        </p:blipFill>
        <p:spPr>
          <a:xfrm>
            <a:off x="709813" y="644050"/>
            <a:ext cx="7724375" cy="27219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>
            <p:ph type="title"/>
          </p:nvPr>
        </p:nvSpPr>
        <p:spPr>
          <a:xfrm>
            <a:off x="773700" y="3082875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This diagram gave us PTSD!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 let’s redraw it!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7814875" y="706325"/>
            <a:ext cx="5487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[1]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18" title="Screenshot 2026-09-25 at 2.59.40 PM.png"/>
          <p:cNvPicPr preferRelativeResize="0"/>
          <p:nvPr/>
        </p:nvPicPr>
        <p:blipFill rotWithShape="1">
          <a:blip r:embed="rId3">
            <a:alphaModFix/>
          </a:blip>
          <a:srcRect b="0" l="0" r="498" t="0"/>
          <a:stretch/>
        </p:blipFill>
        <p:spPr>
          <a:xfrm>
            <a:off x="709813" y="644050"/>
            <a:ext cx="7724375" cy="27219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>
            <p:ph type="title"/>
          </p:nvPr>
        </p:nvSpPr>
        <p:spPr>
          <a:xfrm>
            <a:off x="773700" y="3082875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This diagram gave us PTSD!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So let’s redraw it!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7814875" y="706325"/>
            <a:ext cx="5487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[1]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" name="Google Shape;104;p19" title="OGQwikDes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713" y="433124"/>
            <a:ext cx="8046577" cy="36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>
            <p:ph type="title"/>
          </p:nvPr>
        </p:nvSpPr>
        <p:spPr>
          <a:xfrm>
            <a:off x="773700" y="3082875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</a:rPr>
              <a:t>ADT Architectural Diagram by Shaw and Garlan</a:t>
            </a:r>
            <a:endParaRPr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Problems with the diagram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225225"/>
            <a:ext cx="8272200" cy="3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b="1" lang="en">
                <a:solidFill>
                  <a:schemeClr val="accent1"/>
                </a:solidFill>
              </a:rPr>
              <a:t>Unclear operation names</a:t>
            </a:r>
            <a:endParaRPr>
              <a:solidFill>
                <a:schemeClr val="accent1"/>
              </a:solidFill>
            </a:endParaRPr>
          </a:p>
          <a:p>
            <a:pPr indent="-297498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○"/>
            </a:pPr>
            <a:r>
              <a:rPr lang="en">
                <a:solidFill>
                  <a:schemeClr val="accent1"/>
                </a:solidFill>
              </a:rPr>
              <a:t>Operations like </a:t>
            </a:r>
            <a:r>
              <a:rPr b="1" i="1" lang="en">
                <a:solidFill>
                  <a:schemeClr val="accent1"/>
                </a:solidFill>
              </a:rPr>
              <a:t>Char</a:t>
            </a:r>
            <a:r>
              <a:rPr lang="en">
                <a:solidFill>
                  <a:schemeClr val="accent1"/>
                </a:solidFill>
              </a:rPr>
              <a:t>, </a:t>
            </a:r>
            <a:r>
              <a:rPr b="1" i="1" lang="en">
                <a:solidFill>
                  <a:schemeClr val="accent1"/>
                </a:solidFill>
              </a:rPr>
              <a:t>Word</a:t>
            </a:r>
            <a:r>
              <a:rPr lang="en">
                <a:solidFill>
                  <a:schemeClr val="accent1"/>
                </a:solidFill>
              </a:rPr>
              <a:t>, </a:t>
            </a:r>
            <a:r>
              <a:rPr b="1" i="1" lang="en">
                <a:solidFill>
                  <a:schemeClr val="accent1"/>
                </a:solidFill>
              </a:rPr>
              <a:t>Alpha</a:t>
            </a:r>
            <a:r>
              <a:rPr lang="en">
                <a:solidFill>
                  <a:schemeClr val="accent1"/>
                </a:solidFill>
              </a:rPr>
              <a:t>, and </a:t>
            </a:r>
            <a:r>
              <a:rPr b="1" i="1" lang="en">
                <a:solidFill>
                  <a:schemeClr val="accent1"/>
                </a:solidFill>
              </a:rPr>
              <a:t>i-th</a:t>
            </a:r>
            <a:r>
              <a:rPr lang="en">
                <a:solidFill>
                  <a:schemeClr val="accent1"/>
                </a:solidFill>
              </a:rPr>
              <a:t> were too vague.</a:t>
            </a:r>
            <a:endParaRPr>
              <a:solidFill>
                <a:schemeClr val="accent1"/>
              </a:solidFill>
            </a:endParaRPr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b="1" lang="en">
                <a:solidFill>
                  <a:schemeClr val="accent1"/>
                </a:solidFill>
              </a:rPr>
              <a:t>Mixed responsibilities</a:t>
            </a:r>
            <a:endParaRPr>
              <a:solidFill>
                <a:schemeClr val="accent1"/>
              </a:solidFill>
            </a:endParaRPr>
          </a:p>
          <a:p>
            <a:pPr indent="-297498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○"/>
            </a:pPr>
            <a:r>
              <a:rPr lang="en">
                <a:solidFill>
                  <a:schemeClr val="accent1"/>
                </a:solidFill>
              </a:rPr>
              <a:t>Input, processing, and output tasks were not clearly separated.</a:t>
            </a:r>
            <a:endParaRPr>
              <a:solidFill>
                <a:schemeClr val="accent1"/>
              </a:solidFill>
            </a:endParaRPr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b="1" lang="en">
                <a:solidFill>
                  <a:schemeClr val="accent1"/>
                </a:solidFill>
              </a:rPr>
              <a:t>Poor encapsulation</a:t>
            </a:r>
            <a:endParaRPr>
              <a:solidFill>
                <a:schemeClr val="accent1"/>
              </a:solidFill>
            </a:endParaRPr>
          </a:p>
          <a:p>
            <a:pPr indent="-297498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○"/>
            </a:pPr>
            <a:r>
              <a:rPr lang="en">
                <a:solidFill>
                  <a:schemeClr val="accent1"/>
                </a:solidFill>
              </a:rPr>
              <a:t>Internal processing was exposed instead of being hidden behind public interfaces.</a:t>
            </a:r>
            <a:endParaRPr>
              <a:solidFill>
                <a:schemeClr val="accent1"/>
              </a:solidFill>
            </a:endParaRPr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b="1" lang="en">
                <a:solidFill>
                  <a:schemeClr val="accent1"/>
                </a:solidFill>
              </a:rPr>
              <a:t>Unclear module interfaces</a:t>
            </a:r>
            <a:endParaRPr>
              <a:solidFill>
                <a:schemeClr val="accent1"/>
              </a:solidFill>
            </a:endParaRPr>
          </a:p>
          <a:p>
            <a:pPr indent="-297498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○"/>
            </a:pPr>
            <a:r>
              <a:rPr lang="en">
                <a:solidFill>
                  <a:schemeClr val="accent1"/>
                </a:solidFill>
              </a:rPr>
              <a:t>It was not obvious what data each module receives and returns.</a:t>
            </a:r>
            <a:endParaRPr>
              <a:solidFill>
                <a:schemeClr val="accent1"/>
              </a:solidFill>
            </a:endParaRPr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b="1" lang="en">
                <a:solidFill>
                  <a:schemeClr val="accent1"/>
                </a:solidFill>
              </a:rPr>
              <a:t>Weak separation of business logic</a:t>
            </a:r>
            <a:endParaRPr>
              <a:solidFill>
                <a:schemeClr val="accent1"/>
              </a:solidFill>
            </a:endParaRPr>
          </a:p>
          <a:p>
            <a:pPr indent="-297498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○"/>
            </a:pPr>
            <a:r>
              <a:rPr lang="en">
                <a:solidFill>
                  <a:schemeClr val="accent1"/>
                </a:solidFill>
              </a:rPr>
              <a:t>Shift generation and alphabetization were not clearly isolated from data access.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21" title="OGQwikDes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713" y="433124"/>
            <a:ext cx="8046577" cy="36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>
            <p:ph type="title"/>
          </p:nvPr>
        </p:nvSpPr>
        <p:spPr>
          <a:xfrm>
            <a:off x="773700" y="3082875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Problem</a:t>
            </a:r>
            <a:r>
              <a:rPr lang="en" sz="3600">
                <a:solidFill>
                  <a:schemeClr val="accent1"/>
                </a:solidFill>
              </a:rPr>
              <a:t>: Operation names were vague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1919775" y="2653250"/>
            <a:ext cx="588600" cy="489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3004900" y="2653250"/>
            <a:ext cx="588600" cy="489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4189600" y="2941500"/>
            <a:ext cx="588600" cy="489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5573550" y="2653250"/>
            <a:ext cx="588600" cy="489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4189600" y="3430500"/>
            <a:ext cx="588600" cy="489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5573550" y="3392750"/>
            <a:ext cx="588600" cy="489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7310650" y="2847900"/>
            <a:ext cx="588600" cy="489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7310650" y="3336900"/>
            <a:ext cx="588600" cy="489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3" name="Google Shape;133;p22" title="Refactor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713" y="433124"/>
            <a:ext cx="8046577" cy="36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>
            <p:ph type="title"/>
          </p:nvPr>
        </p:nvSpPr>
        <p:spPr>
          <a:xfrm>
            <a:off x="773700" y="3082875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Fix</a:t>
            </a:r>
            <a:r>
              <a:rPr lang="en" sz="3600">
                <a:solidFill>
                  <a:schemeClr val="accent1"/>
                </a:solidFill>
              </a:rPr>
              <a:t>: Replace them with descriptive names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1856375" y="2653250"/>
            <a:ext cx="724500" cy="489000"/>
          </a:xfrm>
          <a:prstGeom prst="rect">
            <a:avLst/>
          </a:prstGeom>
          <a:noFill/>
          <a:ln cap="flat" cmpd="sng" w="381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3004900" y="2653250"/>
            <a:ext cx="588600" cy="489000"/>
          </a:xfrm>
          <a:prstGeom prst="rect">
            <a:avLst/>
          </a:prstGeom>
          <a:noFill/>
          <a:ln cap="flat" cmpd="sng" w="381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4144250" y="2941500"/>
            <a:ext cx="724500" cy="489000"/>
          </a:xfrm>
          <a:prstGeom prst="rect">
            <a:avLst/>
          </a:prstGeom>
          <a:noFill/>
          <a:ln cap="flat" cmpd="sng" w="381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5573550" y="2653250"/>
            <a:ext cx="588600" cy="489000"/>
          </a:xfrm>
          <a:prstGeom prst="rect">
            <a:avLst/>
          </a:prstGeom>
          <a:noFill/>
          <a:ln cap="flat" cmpd="sng" w="381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4144250" y="3430500"/>
            <a:ext cx="724500" cy="489000"/>
          </a:xfrm>
          <a:prstGeom prst="rect">
            <a:avLst/>
          </a:prstGeom>
          <a:noFill/>
          <a:ln cap="flat" cmpd="sng" w="381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5573550" y="3392750"/>
            <a:ext cx="588600" cy="489000"/>
          </a:xfrm>
          <a:prstGeom prst="rect">
            <a:avLst/>
          </a:prstGeom>
          <a:noFill/>
          <a:ln cap="flat" cmpd="sng" w="381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7310650" y="2847900"/>
            <a:ext cx="588600" cy="489000"/>
          </a:xfrm>
          <a:prstGeom prst="rect">
            <a:avLst/>
          </a:prstGeom>
          <a:noFill/>
          <a:ln cap="flat" cmpd="sng" w="381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7227600" y="2212475"/>
            <a:ext cx="588600" cy="489000"/>
          </a:xfrm>
          <a:prstGeom prst="rect">
            <a:avLst/>
          </a:prstGeom>
          <a:noFill/>
          <a:ln cap="flat" cmpd="sng" w="381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7310650" y="3336900"/>
            <a:ext cx="588600" cy="489000"/>
          </a:xfrm>
          <a:prstGeom prst="rect">
            <a:avLst/>
          </a:prstGeom>
          <a:noFill/>
          <a:ln cap="flat" cmpd="sng" w="381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9" name="Google Shape;149;p23" title="OGQwikDesign.png"/>
          <p:cNvPicPr preferRelativeResize="0"/>
          <p:nvPr/>
        </p:nvPicPr>
        <p:blipFill rotWithShape="1">
          <a:blip r:embed="rId3">
            <a:alphaModFix/>
          </a:blip>
          <a:srcRect b="34572" l="31333" r="0" t="0"/>
          <a:stretch/>
        </p:blipFill>
        <p:spPr>
          <a:xfrm>
            <a:off x="1809250" y="999075"/>
            <a:ext cx="5525499" cy="23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>
            <p:ph type="title"/>
          </p:nvPr>
        </p:nvSpPr>
        <p:spPr>
          <a:xfrm>
            <a:off x="773700" y="3082875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56">
                <a:solidFill>
                  <a:schemeClr val="accent1"/>
                </a:solidFill>
              </a:rPr>
              <a:t>Problem</a:t>
            </a:r>
            <a:r>
              <a:rPr lang="en" sz="3156">
                <a:solidFill>
                  <a:schemeClr val="accent1"/>
                </a:solidFill>
              </a:rPr>
              <a:t>: Reading and storing </a:t>
            </a:r>
            <a:r>
              <a:rPr b="1" lang="en" sz="3156">
                <a:solidFill>
                  <a:schemeClr val="accent1"/>
                </a:solidFill>
              </a:rPr>
              <a:t>Input</a:t>
            </a:r>
            <a:r>
              <a:rPr lang="en" sz="3156">
                <a:solidFill>
                  <a:schemeClr val="accent1"/>
                </a:solidFill>
              </a:rPr>
              <a:t> were not clearly separated</a:t>
            </a:r>
            <a:endParaRPr sz="3156">
              <a:solidFill>
                <a:schemeClr val="accent1"/>
              </a:solidFill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4411075" y="1217950"/>
            <a:ext cx="1464000" cy="1480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4"/>
          <p:cNvSpPr txBox="1"/>
          <p:nvPr>
            <p:ph type="title"/>
          </p:nvPr>
        </p:nvSpPr>
        <p:spPr>
          <a:xfrm>
            <a:off x="773700" y="3082875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Fix</a:t>
            </a:r>
            <a:r>
              <a:rPr lang="en" sz="3600">
                <a:solidFill>
                  <a:schemeClr val="accent1"/>
                </a:solidFill>
              </a:rPr>
              <a:t>: </a:t>
            </a:r>
            <a:r>
              <a:rPr lang="en" sz="3600">
                <a:solidFill>
                  <a:schemeClr val="accent1"/>
                </a:solidFill>
              </a:rPr>
              <a:t>Reading and storing </a:t>
            </a:r>
            <a:r>
              <a:rPr b="1" lang="en" sz="3600">
                <a:solidFill>
                  <a:schemeClr val="accent1"/>
                </a:solidFill>
              </a:rPr>
              <a:t>Input</a:t>
            </a:r>
            <a:r>
              <a:rPr lang="en" sz="3600">
                <a:solidFill>
                  <a:schemeClr val="accent1"/>
                </a:solidFill>
              </a:rPr>
              <a:t> are separated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2919960" y="818408"/>
            <a:ext cx="2013300" cy="1917300"/>
          </a:xfrm>
          <a:prstGeom prst="rect">
            <a:avLst/>
          </a:prstGeom>
          <a:noFill/>
          <a:ln cap="flat" cmpd="sng" w="439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500" lIns="105500" spcFirstLastPara="1" rIns="105500" wrap="square" tIns="105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5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9" name="Google Shape;159;p24" title="QuickdexDesign.png"/>
          <p:cNvPicPr preferRelativeResize="0"/>
          <p:nvPr/>
        </p:nvPicPr>
        <p:blipFill rotWithShape="1">
          <a:blip r:embed="rId3">
            <a:alphaModFix/>
          </a:blip>
          <a:srcRect b="32327" l="55682" r="0" t="0"/>
          <a:stretch/>
        </p:blipFill>
        <p:spPr>
          <a:xfrm>
            <a:off x="2530000" y="664275"/>
            <a:ext cx="4083999" cy="280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5" name="Google Shape;165;p25" title="OGQwikDesign.png"/>
          <p:cNvPicPr preferRelativeResize="0"/>
          <p:nvPr/>
        </p:nvPicPr>
        <p:blipFill rotWithShape="1">
          <a:blip r:embed="rId3">
            <a:alphaModFix/>
          </a:blip>
          <a:srcRect b="0" l="13099" r="58542" t="46389"/>
          <a:stretch/>
        </p:blipFill>
        <p:spPr>
          <a:xfrm>
            <a:off x="2960138" y="479950"/>
            <a:ext cx="3223726" cy="273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 txBox="1"/>
          <p:nvPr>
            <p:ph type="title"/>
          </p:nvPr>
        </p:nvSpPr>
        <p:spPr>
          <a:xfrm>
            <a:off x="773700" y="2947043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Problem</a:t>
            </a:r>
            <a:r>
              <a:rPr lang="en" sz="3600">
                <a:solidFill>
                  <a:schemeClr val="accent1"/>
                </a:solidFill>
              </a:rPr>
              <a:t>: I</a:t>
            </a:r>
            <a:r>
              <a:rPr lang="en" sz="3600">
                <a:solidFill>
                  <a:schemeClr val="accent1"/>
                </a:solidFill>
              </a:rPr>
              <a:t>nput, processing, and retrieval</a:t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</a:rPr>
              <a:t>were not clearly separated in </a:t>
            </a:r>
            <a:r>
              <a:rPr b="1" lang="en" sz="3600">
                <a:solidFill>
                  <a:schemeClr val="accent1"/>
                </a:solidFill>
              </a:rPr>
              <a:t>Alphabetizer</a:t>
            </a:r>
            <a:endParaRPr b="1"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3407882" y="1247500"/>
            <a:ext cx="2232600" cy="690900"/>
          </a:xfrm>
          <a:prstGeom prst="rect">
            <a:avLst/>
          </a:prstGeom>
          <a:noFill/>
          <a:ln cap="flat" cmpd="sng" w="538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150" lIns="129150" spcFirstLastPara="1" rIns="129150" wrap="square" tIns="12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8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26" title="QuickdexDesign.png"/>
          <p:cNvPicPr preferRelativeResize="0"/>
          <p:nvPr/>
        </p:nvPicPr>
        <p:blipFill rotWithShape="1">
          <a:blip r:embed="rId3">
            <a:alphaModFix/>
          </a:blip>
          <a:srcRect b="0" l="13212" r="58992" t="53654"/>
          <a:stretch/>
        </p:blipFill>
        <p:spPr>
          <a:xfrm>
            <a:off x="2638662" y="742550"/>
            <a:ext cx="3866675" cy="289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6"/>
          <p:cNvSpPr txBox="1"/>
          <p:nvPr>
            <p:ph type="title"/>
          </p:nvPr>
        </p:nvSpPr>
        <p:spPr>
          <a:xfrm>
            <a:off x="448200" y="2793106"/>
            <a:ext cx="8247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Fix</a:t>
            </a:r>
            <a:r>
              <a:rPr lang="en" sz="3600">
                <a:solidFill>
                  <a:schemeClr val="accent1"/>
                </a:solidFill>
              </a:rPr>
              <a:t>: Separate input, processing, and retrieval in </a:t>
            </a:r>
            <a:r>
              <a:rPr b="1" lang="en" sz="3600">
                <a:solidFill>
                  <a:schemeClr val="accent1"/>
                </a:solidFill>
              </a:rPr>
              <a:t>Alphabetizer</a:t>
            </a:r>
            <a:endParaRPr b="1" sz="3600">
              <a:solidFill>
                <a:schemeClr val="accent1"/>
              </a:solidFill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061340" y="1227853"/>
            <a:ext cx="1252500" cy="845400"/>
          </a:xfrm>
          <a:prstGeom prst="rect">
            <a:avLst/>
          </a:prstGeom>
          <a:noFill/>
          <a:ln cap="flat" cmpd="sng" w="658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8050" lIns="158050" spcFirstLastPara="1" rIns="158050" wrap="square" tIns="1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5046844" y="1227853"/>
            <a:ext cx="1017600" cy="845400"/>
          </a:xfrm>
          <a:prstGeom prst="rect">
            <a:avLst/>
          </a:prstGeom>
          <a:noFill/>
          <a:ln cap="flat" cmpd="sng" w="658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8050" lIns="158050" spcFirstLastPara="1" rIns="158050" wrap="square" tIns="1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5046844" y="2547924"/>
            <a:ext cx="1017600" cy="845400"/>
          </a:xfrm>
          <a:prstGeom prst="rect">
            <a:avLst/>
          </a:prstGeom>
          <a:noFill/>
          <a:ln cap="flat" cmpd="sng" w="658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8050" lIns="158050" spcFirstLastPara="1" rIns="158050" wrap="square" tIns="1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3" name="Google Shape;183;p27" title="OGQwikDesign.png"/>
          <p:cNvPicPr preferRelativeResize="0"/>
          <p:nvPr/>
        </p:nvPicPr>
        <p:blipFill rotWithShape="1">
          <a:blip r:embed="rId3">
            <a:alphaModFix/>
          </a:blip>
          <a:srcRect b="28310" l="0" r="48299" t="0"/>
          <a:stretch/>
        </p:blipFill>
        <p:spPr>
          <a:xfrm>
            <a:off x="2224813" y="659525"/>
            <a:ext cx="4694374" cy="292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>
            <p:ph type="title"/>
          </p:nvPr>
        </p:nvSpPr>
        <p:spPr>
          <a:xfrm>
            <a:off x="773700" y="2883655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Problem</a:t>
            </a:r>
            <a:r>
              <a:rPr lang="en" sz="3600">
                <a:solidFill>
                  <a:schemeClr val="accent1"/>
                </a:solidFill>
              </a:rPr>
              <a:t>: </a:t>
            </a:r>
            <a:r>
              <a:rPr lang="en" sz="3600">
                <a:solidFill>
                  <a:schemeClr val="accent1"/>
                </a:solidFill>
              </a:rPr>
              <a:t>Retrieving and displaying the result were mixed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2668367" y="1008688"/>
            <a:ext cx="1348800" cy="1553100"/>
          </a:xfrm>
          <a:prstGeom prst="rect">
            <a:avLst/>
          </a:prstGeom>
          <a:noFill/>
          <a:ln cap="flat" cmpd="sng" w="430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28"/>
          <p:cNvSpPr txBox="1"/>
          <p:nvPr>
            <p:ph type="title"/>
          </p:nvPr>
        </p:nvSpPr>
        <p:spPr>
          <a:xfrm>
            <a:off x="773700" y="2883655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Fix</a:t>
            </a:r>
            <a:r>
              <a:rPr lang="en" sz="3600">
                <a:solidFill>
                  <a:schemeClr val="accent1"/>
                </a:solidFill>
              </a:rPr>
              <a:t>: Retrieving and displaying the result are separated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3677901" y="863800"/>
            <a:ext cx="1551600" cy="1553100"/>
          </a:xfrm>
          <a:prstGeom prst="rect">
            <a:avLst/>
          </a:prstGeom>
          <a:noFill/>
          <a:ln cap="flat" cmpd="sng" w="430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3" name="Google Shape;193;p28" title="QuickdexDesign.png"/>
          <p:cNvPicPr preferRelativeResize="0"/>
          <p:nvPr/>
        </p:nvPicPr>
        <p:blipFill rotWithShape="1">
          <a:blip r:embed="rId3">
            <a:alphaModFix/>
          </a:blip>
          <a:srcRect b="24003" l="0" r="71985" t="7593"/>
          <a:stretch/>
        </p:blipFill>
        <p:spPr>
          <a:xfrm>
            <a:off x="3262675" y="775573"/>
            <a:ext cx="2618650" cy="287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9" name="Google Shape;199;p29" title="QuickdexDesign.png"/>
          <p:cNvPicPr preferRelativeResize="0"/>
          <p:nvPr/>
        </p:nvPicPr>
        <p:blipFill rotWithShape="1">
          <a:blip r:embed="rId3">
            <a:alphaModFix/>
          </a:blip>
          <a:srcRect b="0" l="219" r="219" t="0"/>
          <a:stretch/>
        </p:blipFill>
        <p:spPr>
          <a:xfrm>
            <a:off x="578925" y="777988"/>
            <a:ext cx="7986150" cy="3587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We have defined the </a:t>
            </a:r>
            <a:r>
              <a:rPr b="1" lang="en">
                <a:solidFill>
                  <a:schemeClr val="accent1"/>
                </a:solidFill>
              </a:rPr>
              <a:t>Architectural Style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And also the </a:t>
            </a:r>
            <a:r>
              <a:rPr b="1" lang="en">
                <a:solidFill>
                  <a:schemeClr val="lt1"/>
                </a:solidFill>
              </a:rPr>
              <a:t>Components and Connectors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Now we need to define the </a:t>
            </a:r>
            <a:r>
              <a:rPr b="1" lang="en">
                <a:solidFill>
                  <a:schemeClr val="lt1"/>
                </a:solidFill>
              </a:rPr>
              <a:t>Constraints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5" name="Google Shape;20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We have defined the </a:t>
            </a:r>
            <a:r>
              <a:rPr b="1" lang="en">
                <a:solidFill>
                  <a:schemeClr val="accent1"/>
                </a:solidFill>
              </a:rPr>
              <a:t>Architectural Style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And also the </a:t>
            </a:r>
            <a:r>
              <a:rPr b="1" lang="en">
                <a:solidFill>
                  <a:schemeClr val="accent1"/>
                </a:solidFill>
              </a:rPr>
              <a:t>Components and Connectors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Now we need to define the </a:t>
            </a:r>
            <a:r>
              <a:rPr b="1" lang="en">
                <a:solidFill>
                  <a:schemeClr val="lt1"/>
                </a:solidFill>
              </a:rPr>
              <a:t>Constraints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1" name="Google Shape;21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We have defined the </a:t>
            </a:r>
            <a:r>
              <a:rPr b="1" lang="en">
                <a:solidFill>
                  <a:schemeClr val="accent1"/>
                </a:solidFill>
              </a:rPr>
              <a:t>Architectural Style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And also the </a:t>
            </a:r>
            <a:r>
              <a:rPr b="1" lang="en">
                <a:solidFill>
                  <a:schemeClr val="accent1"/>
                </a:solidFill>
              </a:rPr>
              <a:t>Components and Connectors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Now we need to define the </a:t>
            </a:r>
            <a:r>
              <a:rPr b="1" lang="en">
                <a:solidFill>
                  <a:schemeClr val="accent1"/>
                </a:solidFill>
              </a:rPr>
              <a:t>Constraints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17" name="Google Shape;21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Constraints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311700" y="1225225"/>
            <a:ext cx="8272200" cy="3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b="1" lang="en">
                <a:solidFill>
                  <a:schemeClr val="accent1"/>
                </a:solidFill>
              </a:rPr>
              <a:t>Incremental Processing</a:t>
            </a:r>
            <a:endParaRPr b="1">
              <a:solidFill>
                <a:schemeClr val="accent1"/>
              </a:solidFill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Processing must happen one line at a time.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b="1" lang="en">
                <a:solidFill>
                  <a:schemeClr val="accent1"/>
                </a:solidFill>
              </a:rPr>
              <a:t>Incremental Merge</a:t>
            </a:r>
            <a:endParaRPr b="1">
              <a:solidFill>
                <a:schemeClr val="accent1"/>
              </a:solidFill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Must retain previous alphabetized shifts and merge them with the current line's shifts.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b="1" lang="en">
                <a:solidFill>
                  <a:schemeClr val="accent1"/>
                </a:solidFill>
              </a:rPr>
              <a:t>Output Timing</a:t>
            </a:r>
            <a:endParaRPr b="1">
              <a:solidFill>
                <a:schemeClr val="accent1"/>
              </a:solidFill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Output keeps updating based on incremental processing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b="1" lang="en" sz="1800">
                <a:solidFill>
                  <a:schemeClr val="accent1"/>
                </a:solidFill>
              </a:rPr>
              <a:t>Information Hiding</a:t>
            </a:r>
            <a:endParaRPr b="1" sz="1800">
              <a:solidFill>
                <a:schemeClr val="accent1"/>
              </a:solidFill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Each component exposes (public) only the operations required by other components.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4" name="Google Shape;22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Now we talk about the most important part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30" name="Google Shape;23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RATIONALE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36" name="Google Shape;23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Architectural Rationale - </a:t>
            </a:r>
            <a:r>
              <a:rPr b="1" lang="en">
                <a:solidFill>
                  <a:srgbClr val="188038"/>
                </a:solidFill>
              </a:rPr>
              <a:t>Modifiability of Algorithms</a:t>
            </a:r>
            <a:endParaRPr b="1">
              <a:solidFill>
                <a:srgbClr val="188038"/>
              </a:solidFill>
            </a:endParaRPr>
          </a:p>
        </p:txBody>
      </p:sp>
      <p:sp>
        <p:nvSpPr>
          <p:cNvPr id="242" name="Google Shape;24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3" name="Google Shape;243;p36" title="QuickdexDesign.png"/>
          <p:cNvPicPr preferRelativeResize="0"/>
          <p:nvPr/>
        </p:nvPicPr>
        <p:blipFill rotWithShape="1">
          <a:blip r:embed="rId3">
            <a:alphaModFix/>
          </a:blip>
          <a:srcRect b="0" l="13206" r="24705" t="59902"/>
          <a:stretch/>
        </p:blipFill>
        <p:spPr>
          <a:xfrm>
            <a:off x="902925" y="1648048"/>
            <a:ext cx="7338148" cy="211952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6"/>
          <p:cNvSpPr/>
          <p:nvPr/>
        </p:nvSpPr>
        <p:spPr>
          <a:xfrm>
            <a:off x="2913848" y="2794423"/>
            <a:ext cx="986400" cy="791400"/>
          </a:xfrm>
          <a:prstGeom prst="rect">
            <a:avLst/>
          </a:prstGeom>
          <a:noFill/>
          <a:ln cap="flat" cmpd="sng" w="658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8050" lIns="158050" spcFirstLastPara="1" rIns="158050" wrap="square" tIns="1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36"/>
          <p:cNvSpPr/>
          <p:nvPr/>
        </p:nvSpPr>
        <p:spPr>
          <a:xfrm>
            <a:off x="6534500" y="2794423"/>
            <a:ext cx="1187100" cy="791400"/>
          </a:xfrm>
          <a:prstGeom prst="rect">
            <a:avLst/>
          </a:prstGeom>
          <a:noFill/>
          <a:ln cap="flat" cmpd="sng" w="658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8050" lIns="158050" spcFirstLastPara="1" rIns="158050" wrap="square" tIns="1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415500" y="4011663"/>
            <a:ext cx="83130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These processing algorithms are </a:t>
            </a:r>
            <a:r>
              <a:rPr b="1"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isolated within their components</a:t>
            </a:r>
            <a:r>
              <a:rPr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Thus, algorithm changes have minimal impact on other components.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Architectural Rationale - </a:t>
            </a:r>
            <a:r>
              <a:rPr b="1" lang="en">
                <a:solidFill>
                  <a:srgbClr val="188038"/>
                </a:solidFill>
              </a:rPr>
              <a:t>Modifiability of Algorithms</a:t>
            </a:r>
            <a:endParaRPr b="1">
              <a:solidFill>
                <a:srgbClr val="188038"/>
              </a:solidFill>
            </a:endParaRPr>
          </a:p>
        </p:txBody>
      </p:sp>
      <p:sp>
        <p:nvSpPr>
          <p:cNvPr id="252" name="Google Shape;25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3" name="Google Shape;253;p37" title="QuickdexDesign.png"/>
          <p:cNvPicPr preferRelativeResize="0"/>
          <p:nvPr/>
        </p:nvPicPr>
        <p:blipFill rotWithShape="1">
          <a:blip r:embed="rId3">
            <a:alphaModFix/>
          </a:blip>
          <a:srcRect b="0" l="13206" r="24705" t="59902"/>
          <a:stretch/>
        </p:blipFill>
        <p:spPr>
          <a:xfrm>
            <a:off x="902925" y="1648048"/>
            <a:ext cx="7338148" cy="211952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7"/>
          <p:cNvSpPr/>
          <p:nvPr/>
        </p:nvSpPr>
        <p:spPr>
          <a:xfrm>
            <a:off x="2913848" y="2794423"/>
            <a:ext cx="986400" cy="791400"/>
          </a:xfrm>
          <a:prstGeom prst="rect">
            <a:avLst/>
          </a:prstGeom>
          <a:noFill/>
          <a:ln cap="flat" cmpd="sng" w="658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8050" lIns="158050" spcFirstLastPara="1" rIns="158050" wrap="square" tIns="1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37"/>
          <p:cNvSpPr/>
          <p:nvPr/>
        </p:nvSpPr>
        <p:spPr>
          <a:xfrm>
            <a:off x="6534500" y="2794423"/>
            <a:ext cx="1187100" cy="791400"/>
          </a:xfrm>
          <a:prstGeom prst="rect">
            <a:avLst/>
          </a:prstGeom>
          <a:noFill/>
          <a:ln cap="flat" cmpd="sng" w="658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8050" lIns="158050" spcFirstLastPara="1" rIns="158050" wrap="square" tIns="1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37"/>
          <p:cNvSpPr txBox="1"/>
          <p:nvPr/>
        </p:nvSpPr>
        <p:spPr>
          <a:xfrm>
            <a:off x="415500" y="4011663"/>
            <a:ext cx="83130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These processing algorithms are isolated within their components.</a:t>
            </a:r>
            <a:endParaRPr sz="1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Thus, </a:t>
            </a:r>
            <a:r>
              <a:rPr b="1"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algorithm changes have minimal impact</a:t>
            </a:r>
            <a:r>
              <a:rPr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on other components.</a:t>
            </a:r>
            <a:endParaRPr sz="1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Architectural Rationale - </a:t>
            </a:r>
            <a:r>
              <a:rPr b="1" lang="en">
                <a:solidFill>
                  <a:srgbClr val="188038"/>
                </a:solidFill>
              </a:rPr>
              <a:t>Modifiability of Data</a:t>
            </a:r>
            <a:endParaRPr b="1">
              <a:solidFill>
                <a:srgbClr val="188038"/>
              </a:solidFill>
            </a:endParaRPr>
          </a:p>
        </p:txBody>
      </p:sp>
      <p:sp>
        <p:nvSpPr>
          <p:cNvPr id="262" name="Google Shape;262;p38"/>
          <p:cNvSpPr txBox="1"/>
          <p:nvPr>
            <p:ph idx="1" type="body"/>
          </p:nvPr>
        </p:nvSpPr>
        <p:spPr>
          <a:xfrm>
            <a:off x="311700" y="1225225"/>
            <a:ext cx="8272200" cy="3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Data representation is hidden behind component operations.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Changes to how lines, characters, or shifts are stored (e.g., type of array, compressed/uncompressed) do not require changes to clients.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Supports alternative storage representations.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63" name="Google Shape;26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Architectural Rationale - </a:t>
            </a:r>
            <a:r>
              <a:rPr b="1" lang="en">
                <a:solidFill>
                  <a:srgbClr val="188038"/>
                </a:solidFill>
              </a:rPr>
              <a:t>Enhanceability</a:t>
            </a:r>
            <a:endParaRPr b="1">
              <a:solidFill>
                <a:srgbClr val="188038"/>
              </a:solidFill>
            </a:endParaRPr>
          </a:p>
        </p:txBody>
      </p:sp>
      <p:sp>
        <p:nvSpPr>
          <p:cNvPr id="269" name="Google Shape;269;p39"/>
          <p:cNvSpPr txBox="1"/>
          <p:nvPr>
            <p:ph idx="1" type="body"/>
          </p:nvPr>
        </p:nvSpPr>
        <p:spPr>
          <a:xfrm>
            <a:off x="311700" y="1225225"/>
            <a:ext cx="8272200" cy="3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New components can be added for additional functionality.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Noise word elimination will be added in phase 2.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Existing components can be extended without exposing their internal processing algorithms.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New enhancements require minimal changes to other components.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70" name="Google Shape;27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Architectural Rationale - </a:t>
            </a:r>
            <a:r>
              <a:rPr b="1" lang="en">
                <a:solidFill>
                  <a:srgbClr val="188038"/>
                </a:solidFill>
              </a:rPr>
              <a:t>Reusability</a:t>
            </a:r>
            <a:endParaRPr b="1">
              <a:solidFill>
                <a:srgbClr val="188038"/>
              </a:solidFill>
            </a:endParaRPr>
          </a:p>
        </p:txBody>
      </p:sp>
      <p:sp>
        <p:nvSpPr>
          <p:cNvPr id="276" name="Google Shape;276;p40"/>
          <p:cNvSpPr txBox="1"/>
          <p:nvPr>
            <p:ph idx="1" type="body"/>
          </p:nvPr>
        </p:nvSpPr>
        <p:spPr>
          <a:xfrm>
            <a:off x="311700" y="1225225"/>
            <a:ext cx="8272200" cy="3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Components have focused responsibilities: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Input — input acquisition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LineStorage — data storage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CircularShift — shift generation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Alphabetizer — global sorting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Output — presentation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Components make fewer assumptions about other components.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77" name="Google Shape;27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Architectural Rationale - </a:t>
            </a:r>
            <a:r>
              <a:rPr b="1" lang="en">
                <a:solidFill>
                  <a:srgbClr val="F1C232"/>
                </a:solidFill>
              </a:rPr>
              <a:t>Performance</a:t>
            </a:r>
            <a:endParaRPr b="1">
              <a:solidFill>
                <a:srgbClr val="F1C232"/>
              </a:solidFill>
            </a:endParaRPr>
          </a:p>
        </p:txBody>
      </p:sp>
      <p:sp>
        <p:nvSpPr>
          <p:cNvPr id="283" name="Google Shape;283;p41"/>
          <p:cNvSpPr txBox="1"/>
          <p:nvPr>
            <p:ph idx="1" type="body"/>
          </p:nvPr>
        </p:nvSpPr>
        <p:spPr>
          <a:xfrm>
            <a:off x="311700" y="1225225"/>
            <a:ext cx="8272200" cy="3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lang="en">
                <a:solidFill>
                  <a:schemeClr val="accent1"/>
                </a:solidFill>
              </a:rPr>
              <a:t>Space</a:t>
            </a:r>
            <a:endParaRPr>
              <a:solidFill>
                <a:schemeClr val="accent1"/>
              </a:solidFill>
            </a:endParaRPr>
          </a:p>
          <a:p>
            <a:pPr indent="-31083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○"/>
            </a:pPr>
            <a:r>
              <a:rPr lang="en">
                <a:solidFill>
                  <a:schemeClr val="accent1"/>
                </a:solidFill>
              </a:rPr>
              <a:t>Alphabetizer must retain previously alphabetized shifts for global ordering.</a:t>
            </a:r>
            <a:endParaRPr>
              <a:solidFill>
                <a:schemeClr val="accent1"/>
              </a:solidFill>
            </a:endParaRPr>
          </a:p>
          <a:p>
            <a:pPr indent="-310832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■"/>
            </a:pPr>
            <a:r>
              <a:rPr lang="en">
                <a:solidFill>
                  <a:schemeClr val="accent1"/>
                </a:solidFill>
              </a:rPr>
              <a:t>Shift storage can therefore grow with the total number of circular shifts.</a:t>
            </a:r>
            <a:endParaRPr>
              <a:solidFill>
                <a:schemeClr val="accent1"/>
              </a:solidFill>
            </a:endParaRPr>
          </a:p>
          <a:p>
            <a:pPr indent="-31083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○"/>
            </a:pPr>
            <a:r>
              <a:rPr lang="en">
                <a:solidFill>
                  <a:schemeClr val="accent1"/>
                </a:solidFill>
              </a:rPr>
              <a:t>Different components need individual copies of data.</a:t>
            </a:r>
            <a:endParaRPr>
              <a:solidFill>
                <a:schemeClr val="accent1"/>
              </a:solidFill>
            </a:endParaRPr>
          </a:p>
          <a:p>
            <a:pPr indent="-31083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○"/>
            </a:pPr>
            <a:r>
              <a:rPr b="1" lang="en">
                <a:solidFill>
                  <a:schemeClr val="accent1"/>
                </a:solidFill>
              </a:rPr>
              <a:t>Nowadays, memory is relatively abundant, making this space cost less significant.</a:t>
            </a:r>
            <a:endParaRPr b="1">
              <a:solidFill>
                <a:schemeClr val="accent1"/>
              </a:solidFill>
            </a:endParaRPr>
          </a:p>
          <a:p>
            <a:pPr indent="-33432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lang="en">
                <a:solidFill>
                  <a:schemeClr val="accent1"/>
                </a:solidFill>
              </a:rPr>
              <a:t>Response Time</a:t>
            </a:r>
            <a:endParaRPr>
              <a:solidFill>
                <a:schemeClr val="accent1"/>
              </a:solidFill>
            </a:endParaRPr>
          </a:p>
          <a:p>
            <a:pPr indent="-31083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○"/>
            </a:pPr>
            <a:r>
              <a:rPr lang="en">
                <a:solidFill>
                  <a:schemeClr val="accent1"/>
                </a:solidFill>
              </a:rPr>
              <a:t>Data copying in different components cost time.</a:t>
            </a:r>
            <a:endParaRPr>
              <a:solidFill>
                <a:schemeClr val="accent1"/>
              </a:solidFill>
            </a:endParaRPr>
          </a:p>
          <a:p>
            <a:pPr indent="-31083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○"/>
            </a:pPr>
            <a:r>
              <a:rPr b="1" lang="en">
                <a:solidFill>
                  <a:schemeClr val="accent1"/>
                </a:solidFill>
              </a:rPr>
              <a:t>Incremental processing saves time by using RAM instead of hard drives.</a:t>
            </a:r>
            <a:endParaRPr b="1">
              <a:solidFill>
                <a:schemeClr val="accent1"/>
              </a:solidFill>
            </a:endParaRPr>
          </a:p>
          <a:p>
            <a:pPr indent="-31083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○"/>
            </a:pPr>
            <a:r>
              <a:rPr b="1" lang="en">
                <a:solidFill>
                  <a:schemeClr val="accent1"/>
                </a:solidFill>
              </a:rPr>
              <a:t>Incremental </a:t>
            </a:r>
            <a:r>
              <a:rPr b="1" lang="en">
                <a:solidFill>
                  <a:schemeClr val="accent1"/>
                </a:solidFill>
              </a:rPr>
              <a:t>sorting (merge sort) avoids re-sorting the entire collection after every line.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84" name="Google Shape;28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Thus, we chose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Abstract Data Type Architecture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90" name="Google Shape;29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6" name="Google Shape;296;p43" title="QuickdexDesign.png"/>
          <p:cNvPicPr preferRelativeResize="0"/>
          <p:nvPr/>
        </p:nvPicPr>
        <p:blipFill rotWithShape="1">
          <a:blip r:embed="rId3">
            <a:alphaModFix/>
          </a:blip>
          <a:srcRect b="0" l="219" r="219" t="0"/>
          <a:stretch/>
        </p:blipFill>
        <p:spPr>
          <a:xfrm>
            <a:off x="578925" y="777988"/>
            <a:ext cx="7986150" cy="3587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Thank You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02" name="Google Shape;30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"/>
          <p:cNvSpPr txBox="1"/>
          <p:nvPr>
            <p:ph type="title"/>
          </p:nvPr>
        </p:nvSpPr>
        <p:spPr>
          <a:xfrm>
            <a:off x="311700" y="1083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08" name="Google Shape;308;p45"/>
          <p:cNvSpPr txBox="1"/>
          <p:nvPr>
            <p:ph idx="1" type="body"/>
          </p:nvPr>
        </p:nvSpPr>
        <p:spPr>
          <a:xfrm>
            <a:off x="311700" y="1124450"/>
            <a:ext cx="8520600" cy="3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[1] Shaw, M., &amp; Garlan, D. (1996). Software architecture (Vol. 101). Englewood Cliffs: prentice Hall.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