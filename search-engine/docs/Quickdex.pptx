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5143500" cx="9144000"/>
  <p:notesSz cx="6858000" cy="9144000"/>
  <p:embeddedFontLst>
    <p:embeddedFont>
      <p:font typeface="Economica"/>
      <p:regular r:id="rId44"/>
      <p:bold r:id="rId45"/>
      <p:italic r:id="rId46"/>
      <p:boldItalic r:id="rId47"/>
    </p:embeddedFont>
    <p:embeddedFont>
      <p:font typeface="Open Sans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font" Target="fonts/Economica-regular.fntdata"/><Relationship Id="rId43" Type="http://schemas.openxmlformats.org/officeDocument/2006/relationships/slide" Target="slides/slide38.xml"/><Relationship Id="rId46" Type="http://schemas.openxmlformats.org/officeDocument/2006/relationships/font" Target="fonts/Economica-italic.fntdata"/><Relationship Id="rId45" Type="http://schemas.openxmlformats.org/officeDocument/2006/relationships/font" Target="fonts/Economica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OpenSans-regular.fntdata"/><Relationship Id="rId47" Type="http://schemas.openxmlformats.org/officeDocument/2006/relationships/font" Target="fonts/Economica-boldItalic.fntdata"/><Relationship Id="rId49" Type="http://schemas.openxmlformats.org/officeDocument/2006/relationships/font" Target="fonts/OpenSans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OpenSans-boldItalic.fntdata"/><Relationship Id="rId50" Type="http://schemas.openxmlformats.org/officeDocument/2006/relationships/font" Target="fonts/OpenSans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h455a0c2c50cdc8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h455a0c2c50cdc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455a0c2c50cdc8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455a0c2c50cdc8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h455a0c2c50cdc8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h455a0c2c50cdc8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h455a0c2c50cdc8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h455a0c2c50cdc8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455a0c2c50cdc8_1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h455a0c2c50cdc8_1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455a0c2c50cdc8_1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h455a0c2c50cdc8_1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h455a0c2c50cdc8_1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h455a0c2c50cdc8_1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h455a0c2c50cdc8_1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h455a0c2c50cdc8_1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h455a0c2c50cdc8_1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h455a0c2c50cdc8_1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455a0c2c50cdc8_1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h455a0c2c50cdc8_1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455a0c2c50cdc8_1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h455a0c2c50cdc8_1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h455a0c2c50cdc8_1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h455a0c2c50cdc8_1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455a0c2c50cdc8_1_2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h455a0c2c50cdc8_1_2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455a0c2c50cdc8_1_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h455a0c2c50cdc8_1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455a0c2c50cdc8_1_2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h455a0c2c50cdc8_1_2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h455a0c2c50cdc8_1_3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h455a0c2c50cdc8_1_3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h455a0c2c50cdc8_1_4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h455a0c2c50cdc8_1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455a0c2c50cdc8_1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h455a0c2c50cdc8_1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h455a0c2c50cdc8_1_3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h455a0c2c50cdc8_1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h455a0c2c50cdc8_1_3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h455a0c2c50cdc8_1_3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455a0c2c50cdc8_1_4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h455a0c2c50cdc8_1_4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h455a0c2c50cdc8_1_3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h455a0c2c50cdc8_1_3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h455a0c2c50cdc8_1_5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h455a0c2c50cdc8_1_5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h455a0c2c50cdc8_1_4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h455a0c2c50cdc8_1_4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h455a0c2c50cdc8_1_4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h455a0c2c50cdc8_1_4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h455a0c2c50cdc8_1_4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h455a0c2c50cdc8_1_4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h455a0c2c50cdc8_1_4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h455a0c2c50cdc8_1_4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h455a0c2c50cdc8_1_4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h455a0c2c50cdc8_1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h455a0c2c50cdc8_1_4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h455a0c2c50cdc8_1_4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h455a0c2c50cdc8_1_4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h455a0c2c50cdc8_1_4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h455a0c2c50cdc8_1_3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h455a0c2c50cdc8_1_3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455a0c2c50cdc8_1_4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h455a0c2c50cdc8_1_4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h455a0c2c50cdc8_1_4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h455a0c2c50cdc8_1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h455a0c2c50cdc8_1_4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h455a0c2c50cdc8_1_4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h455a0c2c50cdc8_1_5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h455a0c2c50cdc8_1_5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h455a0c2c50cdc8_1_5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h455a0c2c50cdc8_1_5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f3a7cb7f01_3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f3a7cb7f01_3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2780138b592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2780138b592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7" name="Google Shape;17;p3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9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1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1"/>
                </a:solidFill>
              </a:rPr>
              <a:t>Quickdex Architectural Design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63" name="Google Shape;6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Preferred Architectural Style</a:t>
            </a:r>
            <a:endParaRPr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Abstract Data Type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69" name="Google Shape;69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Preferred Architectural Style</a:t>
            </a:r>
            <a:endParaRPr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1"/>
                </a:solidFill>
              </a:rPr>
              <a:t>Abstract Data Type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75" name="Google Shape;7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1" name="Google Shape;81;p16" title="Screenshot 2026-09-25 at 2.59.40 PM.png"/>
          <p:cNvPicPr preferRelativeResize="0"/>
          <p:nvPr/>
        </p:nvPicPr>
        <p:blipFill rotWithShape="1">
          <a:blip r:embed="rId3">
            <a:alphaModFix/>
          </a:blip>
          <a:srcRect b="0" l="0" r="498" t="0"/>
          <a:stretch/>
        </p:blipFill>
        <p:spPr>
          <a:xfrm>
            <a:off x="709813" y="644050"/>
            <a:ext cx="7724375" cy="2721925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6"/>
          <p:cNvSpPr txBox="1"/>
          <p:nvPr/>
        </p:nvSpPr>
        <p:spPr>
          <a:xfrm>
            <a:off x="7814875" y="706325"/>
            <a:ext cx="548700" cy="5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[1]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8" name="Google Shape;88;p17" title="Screenshot 2026-09-25 at 2.59.40 PM.png"/>
          <p:cNvPicPr preferRelativeResize="0"/>
          <p:nvPr/>
        </p:nvPicPr>
        <p:blipFill rotWithShape="1">
          <a:blip r:embed="rId3">
            <a:alphaModFix/>
          </a:blip>
          <a:srcRect b="0" l="0" r="498" t="0"/>
          <a:stretch/>
        </p:blipFill>
        <p:spPr>
          <a:xfrm>
            <a:off x="709813" y="644050"/>
            <a:ext cx="7724375" cy="272192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>
            <p:ph type="title"/>
          </p:nvPr>
        </p:nvSpPr>
        <p:spPr>
          <a:xfrm>
            <a:off x="773700" y="308287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This diagram gave us PTSD!</a:t>
            </a:r>
            <a:endParaRPr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So let’s redraw it!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7814875" y="706325"/>
            <a:ext cx="548700" cy="5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[1]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6" name="Google Shape;96;p18" title="Screenshot 2026-09-25 at 2.59.40 PM.png"/>
          <p:cNvPicPr preferRelativeResize="0"/>
          <p:nvPr/>
        </p:nvPicPr>
        <p:blipFill rotWithShape="1">
          <a:blip r:embed="rId3">
            <a:alphaModFix/>
          </a:blip>
          <a:srcRect b="0" l="0" r="498" t="0"/>
          <a:stretch/>
        </p:blipFill>
        <p:spPr>
          <a:xfrm>
            <a:off x="709813" y="644050"/>
            <a:ext cx="7724375" cy="272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 txBox="1"/>
          <p:nvPr>
            <p:ph type="title"/>
          </p:nvPr>
        </p:nvSpPr>
        <p:spPr>
          <a:xfrm>
            <a:off x="773700" y="308287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This diagram gave us PTSD!</a:t>
            </a:r>
            <a:endParaRPr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So let’s redraw it!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98" name="Google Shape;98;p18"/>
          <p:cNvSpPr txBox="1"/>
          <p:nvPr/>
        </p:nvSpPr>
        <p:spPr>
          <a:xfrm>
            <a:off x="7814875" y="706325"/>
            <a:ext cx="548700" cy="5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[1]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4" name="Google Shape;104;p19" title="OGQwikDesig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713" y="433124"/>
            <a:ext cx="8046577" cy="361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9"/>
          <p:cNvSpPr txBox="1"/>
          <p:nvPr>
            <p:ph type="title"/>
          </p:nvPr>
        </p:nvSpPr>
        <p:spPr>
          <a:xfrm>
            <a:off x="773700" y="308287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accent1"/>
                </a:solidFill>
              </a:rPr>
              <a:t>ADT Architectural Diagram by Shaw and Garlan</a:t>
            </a:r>
            <a:endParaRPr sz="360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Problems with the diagram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11" name="Google Shape;111;p20"/>
          <p:cNvSpPr txBox="1"/>
          <p:nvPr>
            <p:ph idx="1" type="body"/>
          </p:nvPr>
        </p:nvSpPr>
        <p:spPr>
          <a:xfrm>
            <a:off x="311700" y="1225225"/>
            <a:ext cx="8272200" cy="3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●"/>
            </a:pPr>
            <a:r>
              <a:rPr b="1" lang="en">
                <a:solidFill>
                  <a:schemeClr val="accent1"/>
                </a:solidFill>
              </a:rPr>
              <a:t>Unclear operation names</a:t>
            </a:r>
            <a:endParaRPr>
              <a:solidFill>
                <a:schemeClr val="accent1"/>
              </a:solidFill>
            </a:endParaRPr>
          </a:p>
          <a:p>
            <a:pPr indent="-297498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lang="en">
                <a:solidFill>
                  <a:schemeClr val="accent1"/>
                </a:solidFill>
              </a:rPr>
              <a:t>Operations like </a:t>
            </a:r>
            <a:r>
              <a:rPr b="1" i="1" lang="en">
                <a:solidFill>
                  <a:schemeClr val="accent1"/>
                </a:solidFill>
              </a:rPr>
              <a:t>Char</a:t>
            </a:r>
            <a:r>
              <a:rPr lang="en">
                <a:solidFill>
                  <a:schemeClr val="accent1"/>
                </a:solidFill>
              </a:rPr>
              <a:t>, </a:t>
            </a:r>
            <a:r>
              <a:rPr b="1" i="1" lang="en">
                <a:solidFill>
                  <a:schemeClr val="accent1"/>
                </a:solidFill>
              </a:rPr>
              <a:t>Word</a:t>
            </a:r>
            <a:r>
              <a:rPr lang="en">
                <a:solidFill>
                  <a:schemeClr val="accent1"/>
                </a:solidFill>
              </a:rPr>
              <a:t>, </a:t>
            </a:r>
            <a:r>
              <a:rPr b="1" i="1" lang="en">
                <a:solidFill>
                  <a:schemeClr val="accent1"/>
                </a:solidFill>
              </a:rPr>
              <a:t>Alpha</a:t>
            </a:r>
            <a:r>
              <a:rPr lang="en">
                <a:solidFill>
                  <a:schemeClr val="accent1"/>
                </a:solidFill>
              </a:rPr>
              <a:t>, and </a:t>
            </a:r>
            <a:r>
              <a:rPr b="1" i="1" lang="en">
                <a:solidFill>
                  <a:schemeClr val="accent1"/>
                </a:solidFill>
              </a:rPr>
              <a:t>i-th</a:t>
            </a:r>
            <a:r>
              <a:rPr lang="en">
                <a:solidFill>
                  <a:schemeClr val="accent1"/>
                </a:solidFill>
              </a:rPr>
              <a:t> were too vague.</a:t>
            </a:r>
            <a:endParaRPr>
              <a:solidFill>
                <a:schemeClr val="accent1"/>
              </a:solidFill>
            </a:endParaRPr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●"/>
            </a:pPr>
            <a:r>
              <a:rPr b="1" lang="en">
                <a:solidFill>
                  <a:schemeClr val="accent1"/>
                </a:solidFill>
              </a:rPr>
              <a:t>Mixed responsibilities</a:t>
            </a:r>
            <a:endParaRPr>
              <a:solidFill>
                <a:schemeClr val="accent1"/>
              </a:solidFill>
            </a:endParaRPr>
          </a:p>
          <a:p>
            <a:pPr indent="-297498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lang="en">
                <a:solidFill>
                  <a:schemeClr val="accent1"/>
                </a:solidFill>
              </a:rPr>
              <a:t>Input, processing, and output tasks were not clearly separated.</a:t>
            </a:r>
            <a:endParaRPr>
              <a:solidFill>
                <a:schemeClr val="accent1"/>
              </a:solidFill>
            </a:endParaRPr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●"/>
            </a:pPr>
            <a:r>
              <a:rPr b="1" lang="en">
                <a:solidFill>
                  <a:schemeClr val="accent1"/>
                </a:solidFill>
              </a:rPr>
              <a:t>Poor encapsulation</a:t>
            </a:r>
            <a:endParaRPr>
              <a:solidFill>
                <a:schemeClr val="accent1"/>
              </a:solidFill>
            </a:endParaRPr>
          </a:p>
          <a:p>
            <a:pPr indent="-297498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lang="en">
                <a:solidFill>
                  <a:schemeClr val="accent1"/>
                </a:solidFill>
              </a:rPr>
              <a:t>Internal processing was exposed instead of being hidden behind public interfaces.</a:t>
            </a:r>
            <a:endParaRPr>
              <a:solidFill>
                <a:schemeClr val="accent1"/>
              </a:solidFill>
            </a:endParaRPr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●"/>
            </a:pPr>
            <a:r>
              <a:rPr b="1" lang="en">
                <a:solidFill>
                  <a:schemeClr val="accent1"/>
                </a:solidFill>
              </a:rPr>
              <a:t>Unclear module interfaces</a:t>
            </a:r>
            <a:endParaRPr>
              <a:solidFill>
                <a:schemeClr val="accent1"/>
              </a:solidFill>
            </a:endParaRPr>
          </a:p>
          <a:p>
            <a:pPr indent="-297498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lang="en">
                <a:solidFill>
                  <a:schemeClr val="accent1"/>
                </a:solidFill>
              </a:rPr>
              <a:t>It was not obvious what data each module receives and returns.</a:t>
            </a:r>
            <a:endParaRPr>
              <a:solidFill>
                <a:schemeClr val="accent1"/>
              </a:solidFill>
            </a:endParaRPr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●"/>
            </a:pPr>
            <a:r>
              <a:rPr b="1" lang="en">
                <a:solidFill>
                  <a:schemeClr val="accent1"/>
                </a:solidFill>
              </a:rPr>
              <a:t>Weak separation of business logic</a:t>
            </a:r>
            <a:endParaRPr>
              <a:solidFill>
                <a:schemeClr val="accent1"/>
              </a:solidFill>
            </a:endParaRPr>
          </a:p>
          <a:p>
            <a:pPr indent="-297498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lang="en">
                <a:solidFill>
                  <a:schemeClr val="accent1"/>
                </a:solidFill>
              </a:rPr>
              <a:t>Shift generation and alphabetization were not clearly isolated from data access.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12" name="Google Shape;112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8" name="Google Shape;118;p21" title="OGQwikDesig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713" y="433124"/>
            <a:ext cx="8046577" cy="361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/>
          <p:nvPr>
            <p:ph type="title"/>
          </p:nvPr>
        </p:nvSpPr>
        <p:spPr>
          <a:xfrm>
            <a:off x="773700" y="308287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chemeClr val="accent1"/>
                </a:solidFill>
              </a:rPr>
              <a:t>Problem</a:t>
            </a:r>
            <a:r>
              <a:rPr lang="en" sz="3600">
                <a:solidFill>
                  <a:schemeClr val="accent1"/>
                </a:solidFill>
              </a:rPr>
              <a:t>: Operation names were vague</a:t>
            </a:r>
            <a:endParaRPr sz="3600">
              <a:solidFill>
                <a:schemeClr val="accent1"/>
              </a:solidFill>
            </a:endParaRPr>
          </a:p>
        </p:txBody>
      </p:sp>
      <p:sp>
        <p:nvSpPr>
          <p:cNvPr id="120" name="Google Shape;120;p21"/>
          <p:cNvSpPr/>
          <p:nvPr/>
        </p:nvSpPr>
        <p:spPr>
          <a:xfrm>
            <a:off x="1919775" y="2653250"/>
            <a:ext cx="588600" cy="489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1" name="Google Shape;121;p21"/>
          <p:cNvSpPr/>
          <p:nvPr/>
        </p:nvSpPr>
        <p:spPr>
          <a:xfrm>
            <a:off x="3004900" y="2653250"/>
            <a:ext cx="588600" cy="489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2" name="Google Shape;122;p21"/>
          <p:cNvSpPr/>
          <p:nvPr/>
        </p:nvSpPr>
        <p:spPr>
          <a:xfrm>
            <a:off x="4189600" y="2941500"/>
            <a:ext cx="588600" cy="489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3" name="Google Shape;123;p21"/>
          <p:cNvSpPr/>
          <p:nvPr/>
        </p:nvSpPr>
        <p:spPr>
          <a:xfrm>
            <a:off x="5573550" y="2653250"/>
            <a:ext cx="588600" cy="489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4" name="Google Shape;124;p21"/>
          <p:cNvSpPr/>
          <p:nvPr/>
        </p:nvSpPr>
        <p:spPr>
          <a:xfrm>
            <a:off x="4189600" y="3430500"/>
            <a:ext cx="588600" cy="489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21"/>
          <p:cNvSpPr/>
          <p:nvPr/>
        </p:nvSpPr>
        <p:spPr>
          <a:xfrm>
            <a:off x="5573550" y="3392750"/>
            <a:ext cx="588600" cy="489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6" name="Google Shape;126;p21"/>
          <p:cNvSpPr/>
          <p:nvPr/>
        </p:nvSpPr>
        <p:spPr>
          <a:xfrm>
            <a:off x="7310650" y="2847900"/>
            <a:ext cx="588600" cy="489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7" name="Google Shape;127;p21"/>
          <p:cNvSpPr/>
          <p:nvPr/>
        </p:nvSpPr>
        <p:spPr>
          <a:xfrm>
            <a:off x="7310650" y="3336900"/>
            <a:ext cx="588600" cy="489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3" name="Google Shape;133;p22" title="Refactor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713" y="433124"/>
            <a:ext cx="8046577" cy="361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2"/>
          <p:cNvSpPr txBox="1"/>
          <p:nvPr>
            <p:ph type="title"/>
          </p:nvPr>
        </p:nvSpPr>
        <p:spPr>
          <a:xfrm>
            <a:off x="773700" y="308287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chemeClr val="accent1"/>
                </a:solidFill>
              </a:rPr>
              <a:t>Fix</a:t>
            </a:r>
            <a:r>
              <a:rPr lang="en" sz="3600">
                <a:solidFill>
                  <a:schemeClr val="accent1"/>
                </a:solidFill>
              </a:rPr>
              <a:t>: Replace them with descriptive names</a:t>
            </a:r>
            <a:endParaRPr sz="3600">
              <a:solidFill>
                <a:schemeClr val="accent1"/>
              </a:solidFill>
            </a:endParaRPr>
          </a:p>
        </p:txBody>
      </p:sp>
      <p:sp>
        <p:nvSpPr>
          <p:cNvPr id="135" name="Google Shape;135;p22"/>
          <p:cNvSpPr/>
          <p:nvPr/>
        </p:nvSpPr>
        <p:spPr>
          <a:xfrm>
            <a:off x="1856375" y="2653250"/>
            <a:ext cx="7245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22"/>
          <p:cNvSpPr/>
          <p:nvPr/>
        </p:nvSpPr>
        <p:spPr>
          <a:xfrm>
            <a:off x="3004900" y="2653250"/>
            <a:ext cx="5886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22"/>
          <p:cNvSpPr/>
          <p:nvPr/>
        </p:nvSpPr>
        <p:spPr>
          <a:xfrm>
            <a:off x="4144250" y="2941500"/>
            <a:ext cx="7245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22"/>
          <p:cNvSpPr/>
          <p:nvPr/>
        </p:nvSpPr>
        <p:spPr>
          <a:xfrm>
            <a:off x="5573550" y="2653250"/>
            <a:ext cx="5886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22"/>
          <p:cNvSpPr/>
          <p:nvPr/>
        </p:nvSpPr>
        <p:spPr>
          <a:xfrm>
            <a:off x="4144250" y="3430500"/>
            <a:ext cx="7245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0" name="Google Shape;140;p22"/>
          <p:cNvSpPr/>
          <p:nvPr/>
        </p:nvSpPr>
        <p:spPr>
          <a:xfrm>
            <a:off x="5573550" y="3392750"/>
            <a:ext cx="5886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1" name="Google Shape;141;p22"/>
          <p:cNvSpPr/>
          <p:nvPr/>
        </p:nvSpPr>
        <p:spPr>
          <a:xfrm>
            <a:off x="7310650" y="2847900"/>
            <a:ext cx="5886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2" name="Google Shape;142;p22"/>
          <p:cNvSpPr/>
          <p:nvPr/>
        </p:nvSpPr>
        <p:spPr>
          <a:xfrm>
            <a:off x="7227600" y="2212475"/>
            <a:ext cx="5886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3" name="Google Shape;143;p22"/>
          <p:cNvSpPr/>
          <p:nvPr/>
        </p:nvSpPr>
        <p:spPr>
          <a:xfrm>
            <a:off x="7310650" y="3336900"/>
            <a:ext cx="588600" cy="489000"/>
          </a:xfrm>
          <a:prstGeom prst="rect">
            <a:avLst/>
          </a:prstGeom>
          <a:noFill/>
          <a:ln cap="flat" cmpd="sng" w="381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49" name="Google Shape;149;p23" title="OGQwikDesign.png"/>
          <p:cNvPicPr preferRelativeResize="0"/>
          <p:nvPr/>
        </p:nvPicPr>
        <p:blipFill rotWithShape="1">
          <a:blip r:embed="rId3">
            <a:alphaModFix/>
          </a:blip>
          <a:srcRect b="34572" l="31333" r="0" t="0"/>
          <a:stretch/>
        </p:blipFill>
        <p:spPr>
          <a:xfrm>
            <a:off x="1809250" y="999075"/>
            <a:ext cx="5525499" cy="236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3"/>
          <p:cNvSpPr txBox="1"/>
          <p:nvPr>
            <p:ph type="title"/>
          </p:nvPr>
        </p:nvSpPr>
        <p:spPr>
          <a:xfrm>
            <a:off x="773700" y="308287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156">
                <a:solidFill>
                  <a:schemeClr val="accent1"/>
                </a:solidFill>
              </a:rPr>
              <a:t>Problem</a:t>
            </a:r>
            <a:r>
              <a:rPr lang="en" sz="3156">
                <a:solidFill>
                  <a:schemeClr val="accent1"/>
                </a:solidFill>
              </a:rPr>
              <a:t>: Reading and storing </a:t>
            </a:r>
            <a:r>
              <a:rPr b="1" lang="en" sz="3156">
                <a:solidFill>
                  <a:schemeClr val="accent1"/>
                </a:solidFill>
              </a:rPr>
              <a:t>Input</a:t>
            </a:r>
            <a:r>
              <a:rPr lang="en" sz="3156">
                <a:solidFill>
                  <a:schemeClr val="accent1"/>
                </a:solidFill>
              </a:rPr>
              <a:t> were not clearly separated</a:t>
            </a:r>
            <a:endParaRPr sz="3156">
              <a:solidFill>
                <a:schemeClr val="accent1"/>
              </a:solidFill>
            </a:endParaRPr>
          </a:p>
        </p:txBody>
      </p:sp>
      <p:sp>
        <p:nvSpPr>
          <p:cNvPr id="151" name="Google Shape;151;p23"/>
          <p:cNvSpPr/>
          <p:nvPr/>
        </p:nvSpPr>
        <p:spPr>
          <a:xfrm>
            <a:off x="4411075" y="1217950"/>
            <a:ext cx="1464000" cy="14805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" name="Google Shape;157;p24"/>
          <p:cNvSpPr txBox="1"/>
          <p:nvPr>
            <p:ph type="title"/>
          </p:nvPr>
        </p:nvSpPr>
        <p:spPr>
          <a:xfrm>
            <a:off x="773700" y="308287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chemeClr val="accent1"/>
                </a:solidFill>
              </a:rPr>
              <a:t>Fix</a:t>
            </a:r>
            <a:r>
              <a:rPr lang="en" sz="3600">
                <a:solidFill>
                  <a:schemeClr val="accent1"/>
                </a:solidFill>
              </a:rPr>
              <a:t>: </a:t>
            </a:r>
            <a:r>
              <a:rPr lang="en" sz="3600">
                <a:solidFill>
                  <a:schemeClr val="accent1"/>
                </a:solidFill>
              </a:rPr>
              <a:t>Reading and storing </a:t>
            </a:r>
            <a:r>
              <a:rPr b="1" lang="en" sz="3600">
                <a:solidFill>
                  <a:schemeClr val="accent1"/>
                </a:solidFill>
              </a:rPr>
              <a:t>Input</a:t>
            </a:r>
            <a:r>
              <a:rPr lang="en" sz="3600">
                <a:solidFill>
                  <a:schemeClr val="accent1"/>
                </a:solidFill>
              </a:rPr>
              <a:t> are separated</a:t>
            </a:r>
            <a:endParaRPr sz="3600">
              <a:solidFill>
                <a:schemeClr val="accent1"/>
              </a:solidFill>
            </a:endParaRPr>
          </a:p>
        </p:txBody>
      </p:sp>
      <p:sp>
        <p:nvSpPr>
          <p:cNvPr id="158" name="Google Shape;158;p24"/>
          <p:cNvSpPr/>
          <p:nvPr/>
        </p:nvSpPr>
        <p:spPr>
          <a:xfrm>
            <a:off x="2919960" y="818408"/>
            <a:ext cx="2013300" cy="1917300"/>
          </a:xfrm>
          <a:prstGeom prst="rect">
            <a:avLst/>
          </a:prstGeom>
          <a:noFill/>
          <a:ln cap="flat" cmpd="sng" w="439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5500" lIns="105500" spcFirstLastPara="1" rIns="105500" wrap="square" tIns="1055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15"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59" name="Google Shape;159;p24" title="QuickdexDesign.png"/>
          <p:cNvPicPr preferRelativeResize="0"/>
          <p:nvPr/>
        </p:nvPicPr>
        <p:blipFill rotWithShape="1">
          <a:blip r:embed="rId3">
            <a:alphaModFix/>
          </a:blip>
          <a:srcRect b="32327" l="55682" r="0" t="0"/>
          <a:stretch/>
        </p:blipFill>
        <p:spPr>
          <a:xfrm>
            <a:off x="2530000" y="664275"/>
            <a:ext cx="4083999" cy="2801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5" name="Google Shape;165;p25" title="OGQwikDesign.png"/>
          <p:cNvPicPr preferRelativeResize="0"/>
          <p:nvPr/>
        </p:nvPicPr>
        <p:blipFill rotWithShape="1">
          <a:blip r:embed="rId3">
            <a:alphaModFix/>
          </a:blip>
          <a:srcRect b="0" l="13099" r="58542" t="46389"/>
          <a:stretch/>
        </p:blipFill>
        <p:spPr>
          <a:xfrm>
            <a:off x="2960138" y="479950"/>
            <a:ext cx="3223726" cy="2737626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5"/>
          <p:cNvSpPr txBox="1"/>
          <p:nvPr>
            <p:ph type="title"/>
          </p:nvPr>
        </p:nvSpPr>
        <p:spPr>
          <a:xfrm>
            <a:off x="773700" y="2947043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chemeClr val="accent1"/>
                </a:solidFill>
              </a:rPr>
              <a:t>Problem</a:t>
            </a:r>
            <a:r>
              <a:rPr lang="en" sz="3600">
                <a:solidFill>
                  <a:schemeClr val="accent1"/>
                </a:solidFill>
              </a:rPr>
              <a:t>: I</a:t>
            </a:r>
            <a:r>
              <a:rPr lang="en" sz="3600">
                <a:solidFill>
                  <a:schemeClr val="accent1"/>
                </a:solidFill>
              </a:rPr>
              <a:t>nput, processing, and retrieval</a:t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accent1"/>
                </a:solidFill>
              </a:rPr>
              <a:t>were not clearly separated in </a:t>
            </a:r>
            <a:r>
              <a:rPr b="1" lang="en" sz="3600">
                <a:solidFill>
                  <a:schemeClr val="accent1"/>
                </a:solidFill>
              </a:rPr>
              <a:t>Alphabetizer</a:t>
            </a:r>
            <a:endParaRPr b="1"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</p:txBody>
      </p:sp>
      <p:sp>
        <p:nvSpPr>
          <p:cNvPr id="167" name="Google Shape;167;p25"/>
          <p:cNvSpPr/>
          <p:nvPr/>
        </p:nvSpPr>
        <p:spPr>
          <a:xfrm>
            <a:off x="3407882" y="1247500"/>
            <a:ext cx="2232600" cy="690900"/>
          </a:xfrm>
          <a:prstGeom prst="rect">
            <a:avLst/>
          </a:prstGeom>
          <a:noFill/>
          <a:ln cap="flat" cmpd="sng" w="538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9150" lIns="129150" spcFirstLastPara="1" rIns="129150" wrap="square" tIns="1291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78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73" name="Google Shape;173;p26" title="QuickdexDesign.png"/>
          <p:cNvPicPr preferRelativeResize="0"/>
          <p:nvPr/>
        </p:nvPicPr>
        <p:blipFill rotWithShape="1">
          <a:blip r:embed="rId3">
            <a:alphaModFix/>
          </a:blip>
          <a:srcRect b="0" l="13212" r="58992" t="53654"/>
          <a:stretch/>
        </p:blipFill>
        <p:spPr>
          <a:xfrm>
            <a:off x="2638662" y="742550"/>
            <a:ext cx="3866675" cy="289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6"/>
          <p:cNvSpPr txBox="1"/>
          <p:nvPr>
            <p:ph type="title"/>
          </p:nvPr>
        </p:nvSpPr>
        <p:spPr>
          <a:xfrm>
            <a:off x="448200" y="2793106"/>
            <a:ext cx="8247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chemeClr val="accent1"/>
                </a:solidFill>
              </a:rPr>
              <a:t>Fix</a:t>
            </a:r>
            <a:r>
              <a:rPr lang="en" sz="3600">
                <a:solidFill>
                  <a:schemeClr val="accent1"/>
                </a:solidFill>
              </a:rPr>
              <a:t>: Separate input, processing, and retrieval in </a:t>
            </a:r>
            <a:r>
              <a:rPr b="1" lang="en" sz="3600">
                <a:solidFill>
                  <a:schemeClr val="accent1"/>
                </a:solidFill>
              </a:rPr>
              <a:t>Alphabetizer</a:t>
            </a:r>
            <a:endParaRPr b="1" sz="3600">
              <a:solidFill>
                <a:schemeClr val="accent1"/>
              </a:solidFill>
            </a:endParaRPr>
          </a:p>
        </p:txBody>
      </p:sp>
      <p:sp>
        <p:nvSpPr>
          <p:cNvPr id="175" name="Google Shape;175;p26"/>
          <p:cNvSpPr/>
          <p:nvPr/>
        </p:nvSpPr>
        <p:spPr>
          <a:xfrm>
            <a:off x="3061340" y="1227853"/>
            <a:ext cx="1252500" cy="845400"/>
          </a:xfrm>
          <a:prstGeom prst="rect">
            <a:avLst/>
          </a:prstGeom>
          <a:noFill/>
          <a:ln cap="flat" cmpd="sng" w="658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8050" lIns="158050" spcFirstLastPara="1" rIns="158050" wrap="square" tIns="158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2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5046844" y="1227853"/>
            <a:ext cx="1017600" cy="845400"/>
          </a:xfrm>
          <a:prstGeom prst="rect">
            <a:avLst/>
          </a:prstGeom>
          <a:noFill/>
          <a:ln cap="flat" cmpd="sng" w="658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8050" lIns="158050" spcFirstLastPara="1" rIns="158050" wrap="square" tIns="158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2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7" name="Google Shape;177;p26"/>
          <p:cNvSpPr/>
          <p:nvPr/>
        </p:nvSpPr>
        <p:spPr>
          <a:xfrm>
            <a:off x="5046844" y="2547924"/>
            <a:ext cx="1017600" cy="845400"/>
          </a:xfrm>
          <a:prstGeom prst="rect">
            <a:avLst/>
          </a:prstGeom>
          <a:noFill/>
          <a:ln cap="flat" cmpd="sng" w="658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8050" lIns="158050" spcFirstLastPara="1" rIns="158050" wrap="square" tIns="158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2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83" name="Google Shape;183;p27" title="OGQwikDesign.png"/>
          <p:cNvPicPr preferRelativeResize="0"/>
          <p:nvPr/>
        </p:nvPicPr>
        <p:blipFill rotWithShape="1">
          <a:blip r:embed="rId3">
            <a:alphaModFix/>
          </a:blip>
          <a:srcRect b="28310" l="0" r="48299" t="0"/>
          <a:stretch/>
        </p:blipFill>
        <p:spPr>
          <a:xfrm>
            <a:off x="2224813" y="659525"/>
            <a:ext cx="4694374" cy="2924199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7"/>
          <p:cNvSpPr txBox="1"/>
          <p:nvPr>
            <p:ph type="title"/>
          </p:nvPr>
        </p:nvSpPr>
        <p:spPr>
          <a:xfrm>
            <a:off x="773700" y="288365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chemeClr val="accent1"/>
                </a:solidFill>
              </a:rPr>
              <a:t>Problem</a:t>
            </a:r>
            <a:r>
              <a:rPr lang="en" sz="3600">
                <a:solidFill>
                  <a:schemeClr val="accent1"/>
                </a:solidFill>
              </a:rPr>
              <a:t>: </a:t>
            </a:r>
            <a:r>
              <a:rPr lang="en" sz="3600">
                <a:solidFill>
                  <a:schemeClr val="accent1"/>
                </a:solidFill>
              </a:rPr>
              <a:t>Retrieving and displaying the result were mixed</a:t>
            </a:r>
            <a:endParaRPr sz="3600">
              <a:solidFill>
                <a:schemeClr val="accent1"/>
              </a:solidFill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2668367" y="1008688"/>
            <a:ext cx="1348800" cy="1553100"/>
          </a:xfrm>
          <a:prstGeom prst="rect">
            <a:avLst/>
          </a:prstGeom>
          <a:noFill/>
          <a:ln cap="flat" cmpd="sng" w="430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3175" lIns="103175" spcFirstLastPara="1" rIns="103175" wrap="square" tIns="1031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8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28"/>
          <p:cNvSpPr txBox="1"/>
          <p:nvPr>
            <p:ph type="title"/>
          </p:nvPr>
        </p:nvSpPr>
        <p:spPr>
          <a:xfrm>
            <a:off x="773700" y="2883655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chemeClr val="accent1"/>
                </a:solidFill>
              </a:rPr>
              <a:t>Fix</a:t>
            </a:r>
            <a:r>
              <a:rPr lang="en" sz="3600">
                <a:solidFill>
                  <a:schemeClr val="accent1"/>
                </a:solidFill>
              </a:rPr>
              <a:t>: Retrieving and displaying the result are separated</a:t>
            </a:r>
            <a:endParaRPr sz="3600">
              <a:solidFill>
                <a:schemeClr val="accent1"/>
              </a:solidFill>
            </a:endParaRPr>
          </a:p>
        </p:txBody>
      </p:sp>
      <p:sp>
        <p:nvSpPr>
          <p:cNvPr id="192" name="Google Shape;192;p28"/>
          <p:cNvSpPr/>
          <p:nvPr/>
        </p:nvSpPr>
        <p:spPr>
          <a:xfrm>
            <a:off x="3677901" y="863800"/>
            <a:ext cx="1551600" cy="1553100"/>
          </a:xfrm>
          <a:prstGeom prst="rect">
            <a:avLst/>
          </a:prstGeom>
          <a:noFill/>
          <a:ln cap="flat" cmpd="sng" w="43000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3175" lIns="103175" spcFirstLastPara="1" rIns="103175" wrap="square" tIns="1031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80"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93" name="Google Shape;193;p28" title="QuickdexDesign.png"/>
          <p:cNvPicPr preferRelativeResize="0"/>
          <p:nvPr/>
        </p:nvPicPr>
        <p:blipFill rotWithShape="1">
          <a:blip r:embed="rId3">
            <a:alphaModFix/>
          </a:blip>
          <a:srcRect b="24003" l="0" r="71985" t="7593"/>
          <a:stretch/>
        </p:blipFill>
        <p:spPr>
          <a:xfrm>
            <a:off x="3262675" y="775573"/>
            <a:ext cx="2618650" cy="287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9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Our updated design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199" name="Google Shape;199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5" name="Google Shape;205;p30" title="QuickdexDesign.png"/>
          <p:cNvPicPr preferRelativeResize="0"/>
          <p:nvPr/>
        </p:nvPicPr>
        <p:blipFill rotWithShape="1">
          <a:blip r:embed="rId3">
            <a:alphaModFix/>
          </a:blip>
          <a:srcRect b="0" l="219" r="219" t="0"/>
          <a:stretch/>
        </p:blipFill>
        <p:spPr>
          <a:xfrm>
            <a:off x="578925" y="777988"/>
            <a:ext cx="7986150" cy="35875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We have defined the </a:t>
            </a:r>
            <a:r>
              <a:rPr b="1" lang="en">
                <a:solidFill>
                  <a:schemeClr val="accent1"/>
                </a:solidFill>
              </a:rPr>
              <a:t>Architectural Style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And also the </a:t>
            </a:r>
            <a:r>
              <a:rPr b="1" lang="en">
                <a:solidFill>
                  <a:schemeClr val="lt1"/>
                </a:solidFill>
              </a:rPr>
              <a:t>Components and Connectors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Now we need to define the </a:t>
            </a:r>
            <a:r>
              <a:rPr b="1" lang="en">
                <a:solidFill>
                  <a:schemeClr val="lt1"/>
                </a:solidFill>
              </a:rPr>
              <a:t>Constraints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211" name="Google Shape;211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We have defined the </a:t>
            </a:r>
            <a:r>
              <a:rPr b="1" lang="en">
                <a:solidFill>
                  <a:schemeClr val="accent1"/>
                </a:solidFill>
              </a:rPr>
              <a:t>Architectural Style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And also the </a:t>
            </a:r>
            <a:r>
              <a:rPr b="1" lang="en">
                <a:solidFill>
                  <a:schemeClr val="accent1"/>
                </a:solidFill>
              </a:rPr>
              <a:t>Components and Connectors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Now we need to define the </a:t>
            </a:r>
            <a:r>
              <a:rPr b="1" lang="en">
                <a:solidFill>
                  <a:schemeClr val="lt1"/>
                </a:solidFill>
              </a:rPr>
              <a:t>Constraints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217" name="Google Shape;21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We have defined the </a:t>
            </a:r>
            <a:r>
              <a:rPr b="1" lang="en">
                <a:solidFill>
                  <a:schemeClr val="accent1"/>
                </a:solidFill>
              </a:rPr>
              <a:t>Architectural Style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And also the </a:t>
            </a:r>
            <a:r>
              <a:rPr b="1" lang="en">
                <a:solidFill>
                  <a:schemeClr val="accent1"/>
                </a:solidFill>
              </a:rPr>
              <a:t>Components and Connectors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Now we need to define the </a:t>
            </a:r>
            <a:r>
              <a:rPr b="1" lang="en">
                <a:solidFill>
                  <a:schemeClr val="accent1"/>
                </a:solidFill>
              </a:rPr>
              <a:t>Constraints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223" name="Google Shape;223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Constraints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29" name="Google Shape;229;p34"/>
          <p:cNvSpPr txBox="1"/>
          <p:nvPr>
            <p:ph idx="1" type="body"/>
          </p:nvPr>
        </p:nvSpPr>
        <p:spPr>
          <a:xfrm>
            <a:off x="311700" y="1225225"/>
            <a:ext cx="8272200" cy="3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b="1" lang="en">
                <a:solidFill>
                  <a:schemeClr val="accent1"/>
                </a:solidFill>
              </a:rPr>
              <a:t>Incremental Processing</a:t>
            </a:r>
            <a:endParaRPr b="1"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Processing must happen one line at a time.</a:t>
            </a:r>
            <a:endParaRPr>
              <a:solidFill>
                <a:schemeClr val="accent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b="1" lang="en">
                <a:solidFill>
                  <a:schemeClr val="accent1"/>
                </a:solidFill>
              </a:rPr>
              <a:t>Incremental Merge</a:t>
            </a:r>
            <a:endParaRPr b="1"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Must retain previous alphabetized shifts and merge them with the current line's shifts.</a:t>
            </a:r>
            <a:endParaRPr>
              <a:solidFill>
                <a:schemeClr val="accent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b="1" lang="en">
                <a:solidFill>
                  <a:schemeClr val="accent1"/>
                </a:solidFill>
              </a:rPr>
              <a:t>Output Timing</a:t>
            </a:r>
            <a:endParaRPr b="1"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Output keeps updating based on incremental processing</a:t>
            </a:r>
            <a:endParaRPr>
              <a:solidFill>
                <a:schemeClr val="accent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b="1" lang="en" sz="1800">
                <a:solidFill>
                  <a:schemeClr val="accent1"/>
                </a:solidFill>
              </a:rPr>
              <a:t>Information Hiding</a:t>
            </a:r>
            <a:endParaRPr b="1" sz="1800"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Each component exposes (public) only the operations required by other components.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30" name="Google Shape;230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Now we talk about the most important part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236" name="Google Shape;236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6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1"/>
                </a:solidFill>
              </a:rPr>
              <a:t>RATIONALE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242" name="Google Shape;242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Architectural Rationale - </a:t>
            </a:r>
            <a:r>
              <a:rPr b="1" lang="en">
                <a:solidFill>
                  <a:srgbClr val="188038"/>
                </a:solidFill>
              </a:rPr>
              <a:t>Modifiability of Algorithms</a:t>
            </a:r>
            <a:endParaRPr b="1">
              <a:solidFill>
                <a:srgbClr val="188038"/>
              </a:solidFill>
            </a:endParaRPr>
          </a:p>
        </p:txBody>
      </p:sp>
      <p:sp>
        <p:nvSpPr>
          <p:cNvPr id="248" name="Google Shape;24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9" name="Google Shape;249;p37" title="QuickdexDesign.png"/>
          <p:cNvPicPr preferRelativeResize="0"/>
          <p:nvPr/>
        </p:nvPicPr>
        <p:blipFill rotWithShape="1">
          <a:blip r:embed="rId3">
            <a:alphaModFix/>
          </a:blip>
          <a:srcRect b="0" l="13206" r="24705" t="59902"/>
          <a:stretch/>
        </p:blipFill>
        <p:spPr>
          <a:xfrm>
            <a:off x="902925" y="1648048"/>
            <a:ext cx="7338148" cy="2119526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7"/>
          <p:cNvSpPr/>
          <p:nvPr/>
        </p:nvSpPr>
        <p:spPr>
          <a:xfrm>
            <a:off x="2913848" y="2794423"/>
            <a:ext cx="986400" cy="791400"/>
          </a:xfrm>
          <a:prstGeom prst="rect">
            <a:avLst/>
          </a:prstGeom>
          <a:noFill/>
          <a:ln cap="flat" cmpd="sng" w="658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8050" lIns="158050" spcFirstLastPara="1" rIns="158050" wrap="square" tIns="158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2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1" name="Google Shape;251;p37"/>
          <p:cNvSpPr/>
          <p:nvPr/>
        </p:nvSpPr>
        <p:spPr>
          <a:xfrm>
            <a:off x="6534500" y="2794423"/>
            <a:ext cx="1187100" cy="791400"/>
          </a:xfrm>
          <a:prstGeom prst="rect">
            <a:avLst/>
          </a:prstGeom>
          <a:noFill/>
          <a:ln cap="flat" cmpd="sng" w="658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8050" lIns="158050" spcFirstLastPara="1" rIns="158050" wrap="square" tIns="158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2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2" name="Google Shape;252;p37"/>
          <p:cNvSpPr txBox="1"/>
          <p:nvPr/>
        </p:nvSpPr>
        <p:spPr>
          <a:xfrm>
            <a:off x="415500" y="4011663"/>
            <a:ext cx="83130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These processing algorithms are </a:t>
            </a:r>
            <a:r>
              <a:rPr b="1" lang="en" sz="1800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isolated within their components</a:t>
            </a:r>
            <a:r>
              <a:rPr lang="en" sz="1800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1800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Thus, algorithm changes have minimal impact on other components.</a:t>
            </a:r>
            <a:endParaRPr sz="18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8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Architectural Rationale - </a:t>
            </a:r>
            <a:r>
              <a:rPr b="1" lang="en">
                <a:solidFill>
                  <a:srgbClr val="188038"/>
                </a:solidFill>
              </a:rPr>
              <a:t>Modifiability of Algorithms</a:t>
            </a:r>
            <a:endParaRPr b="1">
              <a:solidFill>
                <a:srgbClr val="188038"/>
              </a:solidFill>
            </a:endParaRPr>
          </a:p>
        </p:txBody>
      </p:sp>
      <p:sp>
        <p:nvSpPr>
          <p:cNvPr id="258" name="Google Shape;258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9" name="Google Shape;259;p38" title="QuickdexDesign.png"/>
          <p:cNvPicPr preferRelativeResize="0"/>
          <p:nvPr/>
        </p:nvPicPr>
        <p:blipFill rotWithShape="1">
          <a:blip r:embed="rId3">
            <a:alphaModFix/>
          </a:blip>
          <a:srcRect b="0" l="13206" r="24705" t="59902"/>
          <a:stretch/>
        </p:blipFill>
        <p:spPr>
          <a:xfrm>
            <a:off x="902925" y="1648048"/>
            <a:ext cx="7338148" cy="211952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8"/>
          <p:cNvSpPr/>
          <p:nvPr/>
        </p:nvSpPr>
        <p:spPr>
          <a:xfrm>
            <a:off x="2913848" y="2794423"/>
            <a:ext cx="986400" cy="791400"/>
          </a:xfrm>
          <a:prstGeom prst="rect">
            <a:avLst/>
          </a:prstGeom>
          <a:noFill/>
          <a:ln cap="flat" cmpd="sng" w="658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8050" lIns="158050" spcFirstLastPara="1" rIns="158050" wrap="square" tIns="158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2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1" name="Google Shape;261;p38"/>
          <p:cNvSpPr/>
          <p:nvPr/>
        </p:nvSpPr>
        <p:spPr>
          <a:xfrm>
            <a:off x="6534500" y="2794423"/>
            <a:ext cx="1187100" cy="791400"/>
          </a:xfrm>
          <a:prstGeom prst="rect">
            <a:avLst/>
          </a:prstGeom>
          <a:noFill/>
          <a:ln cap="flat" cmpd="sng" w="658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8050" lIns="158050" spcFirstLastPara="1" rIns="158050" wrap="square" tIns="158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2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2" name="Google Shape;262;p38"/>
          <p:cNvSpPr txBox="1"/>
          <p:nvPr/>
        </p:nvSpPr>
        <p:spPr>
          <a:xfrm>
            <a:off x="415500" y="4011663"/>
            <a:ext cx="83130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These processing algorithms are isolated within their components.</a:t>
            </a:r>
            <a:endParaRPr sz="1800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Thus, </a:t>
            </a:r>
            <a:r>
              <a:rPr b="1" lang="en" sz="1800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algorithm changes have minimal impact</a:t>
            </a:r>
            <a:r>
              <a:rPr lang="en" sz="1800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 on other components.</a:t>
            </a:r>
            <a:endParaRPr sz="1800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9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Architectural Rationale - </a:t>
            </a:r>
            <a:r>
              <a:rPr b="1" lang="en">
                <a:solidFill>
                  <a:srgbClr val="188038"/>
                </a:solidFill>
              </a:rPr>
              <a:t>Modifiability of Data</a:t>
            </a:r>
            <a:endParaRPr b="1">
              <a:solidFill>
                <a:srgbClr val="188038"/>
              </a:solidFill>
            </a:endParaRPr>
          </a:p>
        </p:txBody>
      </p:sp>
      <p:sp>
        <p:nvSpPr>
          <p:cNvPr id="268" name="Google Shape;268;p39"/>
          <p:cNvSpPr txBox="1"/>
          <p:nvPr>
            <p:ph idx="1" type="body"/>
          </p:nvPr>
        </p:nvSpPr>
        <p:spPr>
          <a:xfrm>
            <a:off x="311700" y="1225225"/>
            <a:ext cx="8272200" cy="3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Data representation is hidden behind component operations.</a:t>
            </a:r>
            <a:endParaRPr>
              <a:solidFill>
                <a:schemeClr val="accent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Changes to how lines, characters, or shifts are stored (e.g., type of array, compressed/uncompressed) do not require changes to clients.</a:t>
            </a:r>
            <a:endParaRPr>
              <a:solidFill>
                <a:schemeClr val="accent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Supports alternative storage representations.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69" name="Google Shape;269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0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Architectural Rationale - </a:t>
            </a:r>
            <a:r>
              <a:rPr b="1" lang="en">
                <a:solidFill>
                  <a:srgbClr val="188038"/>
                </a:solidFill>
              </a:rPr>
              <a:t>Enhanceability</a:t>
            </a:r>
            <a:endParaRPr b="1">
              <a:solidFill>
                <a:srgbClr val="188038"/>
              </a:solidFill>
            </a:endParaRPr>
          </a:p>
        </p:txBody>
      </p:sp>
      <p:sp>
        <p:nvSpPr>
          <p:cNvPr id="275" name="Google Shape;275;p40"/>
          <p:cNvSpPr txBox="1"/>
          <p:nvPr>
            <p:ph idx="1" type="body"/>
          </p:nvPr>
        </p:nvSpPr>
        <p:spPr>
          <a:xfrm>
            <a:off x="311700" y="1225225"/>
            <a:ext cx="8272200" cy="3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New components can be added for additional functionality.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Noise word elimination will be added in phase 2.</a:t>
            </a:r>
            <a:endParaRPr>
              <a:solidFill>
                <a:schemeClr val="accent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Existing components can be extended without exposing their internal processing algorithms.</a:t>
            </a:r>
            <a:endParaRPr>
              <a:solidFill>
                <a:schemeClr val="accent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New enhancements require minimal changes to other components.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76" name="Google Shape;276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Architectural Rationale - </a:t>
            </a:r>
            <a:r>
              <a:rPr b="1" lang="en">
                <a:solidFill>
                  <a:srgbClr val="188038"/>
                </a:solidFill>
              </a:rPr>
              <a:t>Reusability</a:t>
            </a:r>
            <a:endParaRPr b="1">
              <a:solidFill>
                <a:srgbClr val="188038"/>
              </a:solidFill>
            </a:endParaRPr>
          </a:p>
        </p:txBody>
      </p:sp>
      <p:sp>
        <p:nvSpPr>
          <p:cNvPr id="282" name="Google Shape;282;p41"/>
          <p:cNvSpPr txBox="1"/>
          <p:nvPr>
            <p:ph idx="1" type="body"/>
          </p:nvPr>
        </p:nvSpPr>
        <p:spPr>
          <a:xfrm>
            <a:off x="311700" y="1225225"/>
            <a:ext cx="8272200" cy="3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Components have focused responsibilities: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Input — input acquisition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LineStorage — data storage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CircularShift — shift generation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Alphabetizer — global sorting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Output — presentation</a:t>
            </a:r>
            <a:endParaRPr>
              <a:solidFill>
                <a:schemeClr val="accent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Components make fewer assumptions about other components.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83" name="Google Shape;283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2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Architectural Rationale - </a:t>
            </a:r>
            <a:r>
              <a:rPr b="1" lang="en">
                <a:solidFill>
                  <a:srgbClr val="F1C232"/>
                </a:solidFill>
              </a:rPr>
              <a:t>Performance</a:t>
            </a:r>
            <a:endParaRPr b="1">
              <a:solidFill>
                <a:srgbClr val="F1C232"/>
              </a:solidFill>
            </a:endParaRPr>
          </a:p>
        </p:txBody>
      </p:sp>
      <p:sp>
        <p:nvSpPr>
          <p:cNvPr id="289" name="Google Shape;289;p42"/>
          <p:cNvSpPr txBox="1"/>
          <p:nvPr>
            <p:ph idx="1" type="body"/>
          </p:nvPr>
        </p:nvSpPr>
        <p:spPr>
          <a:xfrm>
            <a:off x="311700" y="1225225"/>
            <a:ext cx="8272200" cy="3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34328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●"/>
            </a:pPr>
            <a:r>
              <a:rPr lang="en">
                <a:solidFill>
                  <a:schemeClr val="accent1"/>
                </a:solidFill>
              </a:rPr>
              <a:t>Space</a:t>
            </a:r>
            <a:endParaRPr>
              <a:solidFill>
                <a:schemeClr val="accent1"/>
              </a:solidFill>
            </a:endParaRPr>
          </a:p>
          <a:p>
            <a:pPr indent="-310832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lang="en">
                <a:solidFill>
                  <a:schemeClr val="accent1"/>
                </a:solidFill>
              </a:rPr>
              <a:t>Alphabetizer must retain previously alphabetized shifts for global ordering.</a:t>
            </a:r>
            <a:endParaRPr>
              <a:solidFill>
                <a:schemeClr val="accent1"/>
              </a:solidFill>
            </a:endParaRPr>
          </a:p>
          <a:p>
            <a:pPr indent="-310832" lvl="2" marL="13716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■"/>
            </a:pPr>
            <a:r>
              <a:rPr lang="en">
                <a:solidFill>
                  <a:schemeClr val="accent1"/>
                </a:solidFill>
              </a:rPr>
              <a:t>Shift storage can therefore grow with the total number of circular shifts.</a:t>
            </a:r>
            <a:endParaRPr>
              <a:solidFill>
                <a:schemeClr val="accent1"/>
              </a:solidFill>
            </a:endParaRPr>
          </a:p>
          <a:p>
            <a:pPr indent="-310832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lang="en">
                <a:solidFill>
                  <a:schemeClr val="accent1"/>
                </a:solidFill>
              </a:rPr>
              <a:t>Different components need individual copies of data.</a:t>
            </a:r>
            <a:endParaRPr>
              <a:solidFill>
                <a:schemeClr val="accent1"/>
              </a:solidFill>
            </a:endParaRPr>
          </a:p>
          <a:p>
            <a:pPr indent="-310832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b="1" lang="en">
                <a:solidFill>
                  <a:schemeClr val="accent1"/>
                </a:solidFill>
              </a:rPr>
              <a:t>Nowadays, memory is relatively abundant, making this space cost less significant.</a:t>
            </a:r>
            <a:endParaRPr b="1">
              <a:solidFill>
                <a:schemeClr val="accent1"/>
              </a:solidFill>
            </a:endParaRPr>
          </a:p>
          <a:p>
            <a:pPr indent="-334328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●"/>
            </a:pPr>
            <a:r>
              <a:rPr lang="en">
                <a:solidFill>
                  <a:schemeClr val="accent1"/>
                </a:solidFill>
              </a:rPr>
              <a:t>Response Time</a:t>
            </a:r>
            <a:endParaRPr>
              <a:solidFill>
                <a:schemeClr val="accent1"/>
              </a:solidFill>
            </a:endParaRPr>
          </a:p>
          <a:p>
            <a:pPr indent="-310832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lang="en">
                <a:solidFill>
                  <a:schemeClr val="accent1"/>
                </a:solidFill>
              </a:rPr>
              <a:t>Data copying in different components cost time.</a:t>
            </a:r>
            <a:endParaRPr>
              <a:solidFill>
                <a:schemeClr val="accent1"/>
              </a:solidFill>
            </a:endParaRPr>
          </a:p>
          <a:p>
            <a:pPr indent="-310832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b="1" lang="en">
                <a:solidFill>
                  <a:schemeClr val="accent1"/>
                </a:solidFill>
              </a:rPr>
              <a:t>Incremental processing saves time by using RAM instead of hard drives.</a:t>
            </a:r>
            <a:endParaRPr b="1">
              <a:solidFill>
                <a:schemeClr val="accent1"/>
              </a:solidFill>
            </a:endParaRPr>
          </a:p>
          <a:p>
            <a:pPr indent="-310832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○"/>
            </a:pPr>
            <a:r>
              <a:rPr b="1" lang="en">
                <a:solidFill>
                  <a:schemeClr val="accent1"/>
                </a:solidFill>
              </a:rPr>
              <a:t>Incremental </a:t>
            </a:r>
            <a:r>
              <a:rPr b="1" lang="en">
                <a:solidFill>
                  <a:schemeClr val="accent1"/>
                </a:solidFill>
              </a:rPr>
              <a:t>sorting (merge sort) avoids re-sorting the entire collection after every line.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290" name="Google Shape;290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Thus, we chose</a:t>
            </a:r>
            <a:endParaRPr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1"/>
                </a:solidFill>
              </a:rPr>
              <a:t>Abstract Data Type Architecture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296" name="Google Shape;296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4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We are done with the </a:t>
            </a:r>
            <a:r>
              <a:rPr b="1" lang="en">
                <a:solidFill>
                  <a:schemeClr val="accent1"/>
                </a:solidFill>
              </a:rPr>
              <a:t>KWIC System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Now we need the Search Engine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02" name="Google Shape;302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5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We are done with the KWIC System</a:t>
            </a:r>
            <a:endParaRPr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Now we need the </a:t>
            </a:r>
            <a:r>
              <a:rPr b="1" lang="en">
                <a:solidFill>
                  <a:schemeClr val="accent1"/>
                </a:solidFill>
              </a:rPr>
              <a:t>Search Engine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308" name="Google Shape;308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Search Engine</a:t>
            </a:r>
            <a:endParaRPr b="1">
              <a:solidFill>
                <a:srgbClr val="188038"/>
              </a:solidFill>
            </a:endParaRPr>
          </a:p>
        </p:txBody>
      </p:sp>
      <p:sp>
        <p:nvSpPr>
          <p:cNvPr id="314" name="Google Shape;314;p46"/>
          <p:cNvSpPr txBox="1"/>
          <p:nvPr>
            <p:ph idx="1" type="body"/>
          </p:nvPr>
        </p:nvSpPr>
        <p:spPr>
          <a:xfrm>
            <a:off x="311700" y="1225225"/>
            <a:ext cx="8272200" cy="3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</a:pPr>
            <a:r>
              <a:rPr lang="en">
                <a:solidFill>
                  <a:schemeClr val="accent1"/>
                </a:solidFill>
              </a:rPr>
              <a:t>Three operations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setSearchEngine()</a:t>
            </a:r>
            <a:endParaRPr>
              <a:solidFill>
                <a:schemeClr val="accent1"/>
              </a:solidFill>
            </a:endParaRPr>
          </a:p>
          <a:p>
            <a:pPr indent="-317500" lvl="2" marL="13716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</a:pPr>
            <a:r>
              <a:rPr lang="en">
                <a:solidFill>
                  <a:schemeClr val="accent1"/>
                </a:solidFill>
              </a:rPr>
              <a:t>Receives user input and the KWIC index.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searchKeywordMatches()</a:t>
            </a:r>
            <a:endParaRPr>
              <a:solidFill>
                <a:schemeClr val="accent1"/>
              </a:solidFill>
            </a:endParaRPr>
          </a:p>
          <a:p>
            <a:pPr indent="-317500" lvl="2" marL="13716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</a:pPr>
            <a:r>
              <a:rPr lang="en">
                <a:solidFill>
                  <a:schemeClr val="accent1"/>
                </a:solidFill>
              </a:rPr>
              <a:t>Finds KWIC entries that matches user input.</a:t>
            </a:r>
            <a:endParaRPr>
              <a:solidFill>
                <a:schemeClr val="accent1"/>
              </a:solidFill>
            </a:endParaRPr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</a:pPr>
            <a:r>
              <a:rPr lang="en">
                <a:solidFill>
                  <a:schemeClr val="accent1"/>
                </a:solidFill>
              </a:rPr>
              <a:t>displayResults()</a:t>
            </a:r>
            <a:endParaRPr>
              <a:solidFill>
                <a:schemeClr val="accent1"/>
              </a:solidFill>
            </a:endParaRPr>
          </a:p>
          <a:p>
            <a:pPr indent="-317500" lvl="2" marL="13716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</a:pPr>
            <a:r>
              <a:rPr lang="en">
                <a:solidFill>
                  <a:schemeClr val="accent1"/>
                </a:solidFill>
              </a:rPr>
              <a:t>Displays the matching results to the user.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315" name="Google Shape;315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6" name="Google Shape;316;p46" title="SearchEngin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1027" y="525191"/>
            <a:ext cx="3154648" cy="3959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7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Our final architectural design diagram</a:t>
            </a:r>
            <a:endParaRPr b="1">
              <a:solidFill>
                <a:schemeClr val="accent1"/>
              </a:solidFill>
            </a:endParaRPr>
          </a:p>
        </p:txBody>
      </p:sp>
      <p:sp>
        <p:nvSpPr>
          <p:cNvPr id="322" name="Google Shape;322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28" name="Google Shape;328;p48" title="FinalQuickdexDesig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7963" y="822237"/>
            <a:ext cx="8088074" cy="3499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9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Thank You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334" name="Google Shape;334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0"/>
          <p:cNvSpPr txBox="1"/>
          <p:nvPr>
            <p:ph type="title"/>
          </p:nvPr>
        </p:nvSpPr>
        <p:spPr>
          <a:xfrm>
            <a:off x="311700" y="10837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340" name="Google Shape;340;p50"/>
          <p:cNvSpPr txBox="1"/>
          <p:nvPr>
            <p:ph idx="1" type="body"/>
          </p:nvPr>
        </p:nvSpPr>
        <p:spPr>
          <a:xfrm>
            <a:off x="311700" y="1124450"/>
            <a:ext cx="8520600" cy="353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Times New Roman"/>
                <a:ea typeface="Times New Roman"/>
                <a:cs typeface="Times New Roman"/>
                <a:sym typeface="Times New Roman"/>
              </a:rPr>
              <a:t>[1] Shaw, M., &amp; Garlan, D. (1996). Software architecture (Vol. 101). Englewood Cliffs: prentice Hall.</a:t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1" name="Google Shape;341;p5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